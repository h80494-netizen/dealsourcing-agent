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5340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400">
                <a:solidFill>
                  <a:srgbClr val="FFFFFF"/>
                </a:solidFill>
              </a:defRPr>
            </a:pPr>
            <a:r>
              <a:t>VC 딜소싱</a:t>
            </a:r>
            <a:br/>
            <a:r>
              <a:t>주요 유망 뉴스 요약 리포트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34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생성일: 2026-08-07 22:13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2F3D"/>
          </a:solidFill>
          <a:ln>
            <a:solidFill>
              <a:srgbClr val="21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会議を"組織のナレッジ"に変える。法人向け生成AI「Tachyon 生成AI」が議事録×AIエージェ...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C8C8C8"/>
                </a:solidFill>
              </a:defRPr>
            </a:pPr>
            <a:r>
              <a:t>조회일: 2026-08-07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645920" cy="365760"/>
          </a:xfrm>
          <a:prstGeom prst="roundRect">
            <a:avLst/>
          </a:prstGeom>
          <a:solidFill>
            <a:srgbClr val="5499C7"/>
          </a:solidFill>
          <a:ln>
            <a:solidFill>
              <a:srgbClr val="549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일자: 2026-08-03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371600"/>
            <a:ext cx="1645920" cy="36576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중요도: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1645920" cy="36576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산업: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277295" cy="3474720"/>
          </a:xfrm>
          <a:prstGeom prst="roundRect">
            <a:avLst/>
          </a:prstGeom>
          <a:solidFill>
            <a:srgbClr val="F2F3F4"/>
          </a:solidFill>
          <a:ln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C3E50"/>
                </a:solidFill>
              </a:defRPr>
            </a:pPr>
            <a:r>
              <a:t>[핵심 요약]</a:t>
            </a:r>
          </a:p>
          <a:p>
            <a:pPr>
              <a:spcBef>
                <a:spcPts val="1400"/>
              </a:spcBef>
              <a:defRPr sz="1800">
                <a:solidFill>
                  <a:srgbClr val="34495E"/>
                </a:solidFill>
              </a:defRPr>
            </a:pPr>
            <a:r>
              <a:t>[エムシーディースリー株式会社]</a:t>
            </a:r>
            <a:br/>
            <a:r>
              <a:t>[画像1: https://prcdn.freetls.fastly.net/release_image/58133/104/58133-104-69f5aab8e26d812848bf37ce454a2b83-2400x1600.jpg?width=536&amp;amp;quality=85%2C75&amp;amp;format=jpeg&amp;amp;auto=webp&amp;amp;fit=bounds&amp;...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980B9"/>
                </a:solidFill>
              </a:defRPr>
            </a:pPr>
            <a:r>
              <a:t>출처: https://prtimes.jp/main/html/rd/p/000000104.000058133.html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2F3D"/>
          </a:solidFill>
          <a:ln>
            <a:solidFill>
              <a:srgbClr val="21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農林水産省「AI ×『農山漁村』 インパクト創出ソリューション実装プログラム」募集開始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C8C8C8"/>
                </a:solidFill>
              </a:defRPr>
            </a:pPr>
            <a:r>
              <a:t>조회일: 2026-08-07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645920" cy="365760"/>
          </a:xfrm>
          <a:prstGeom prst="roundRect">
            <a:avLst/>
          </a:prstGeom>
          <a:solidFill>
            <a:srgbClr val="5499C7"/>
          </a:solidFill>
          <a:ln>
            <a:solidFill>
              <a:srgbClr val="549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일자: 2026-08-03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371600"/>
            <a:ext cx="1645920" cy="36576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중요도: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1645920" cy="36576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산업: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277295" cy="3474720"/>
          </a:xfrm>
          <a:prstGeom prst="roundRect">
            <a:avLst/>
          </a:prstGeom>
          <a:solidFill>
            <a:srgbClr val="F2F3F4"/>
          </a:solidFill>
          <a:ln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C3E50"/>
                </a:solidFill>
              </a:defRPr>
            </a:pPr>
            <a:r>
              <a:t>[핵심 요약]</a:t>
            </a:r>
          </a:p>
          <a:p>
            <a:pPr>
              <a:spcBef>
                <a:spcPts val="1400"/>
              </a:spcBef>
              <a:defRPr sz="1800">
                <a:solidFill>
                  <a:srgbClr val="34495E"/>
                </a:solidFill>
              </a:defRPr>
            </a:pPr>
            <a:r>
              <a:t>[Lively合同会社]</a:t>
            </a:r>
            <a:br/>
            <a:r>
              <a:t>[画像1: https://prcdn.freetls.fastly.net/release_image/160689/52/160689-52-8b9b98f01f666b6daa58fb8b9f30211d-3900x2757.jpg?width=536&amp;amp;quality=85%2C75&amp;amp;format=jpeg&amp;amp;auto=webp&amp;amp;fit=bounds&amp;...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980B9"/>
                </a:solidFill>
              </a:defRPr>
            </a:pPr>
            <a:r>
              <a:t>출처: https://prtimes.jp/main/html/rd/p/000000052.000160689.html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2F3D"/>
          </a:solidFill>
          <a:ln>
            <a:solidFill>
              <a:srgbClr val="21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博多駅前・明治公園に“街のロビー”が誕生。オールデイダイニング「GABBI」8月7日開業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C8C8C8"/>
                </a:solidFill>
              </a:defRPr>
            </a:pPr>
            <a:r>
              <a:t>조회일: 2026-08-07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645920" cy="365760"/>
          </a:xfrm>
          <a:prstGeom prst="roundRect">
            <a:avLst/>
          </a:prstGeom>
          <a:solidFill>
            <a:srgbClr val="5499C7"/>
          </a:solidFill>
          <a:ln>
            <a:solidFill>
              <a:srgbClr val="549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일자: 2026-08-03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371600"/>
            <a:ext cx="1645920" cy="36576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중요도: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1645920" cy="36576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산업: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277295" cy="3474720"/>
          </a:xfrm>
          <a:prstGeom prst="roundRect">
            <a:avLst/>
          </a:prstGeom>
          <a:solidFill>
            <a:srgbClr val="F2F3F4"/>
          </a:solidFill>
          <a:ln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C3E50"/>
                </a:solidFill>
              </a:defRPr>
            </a:pPr>
            <a:r>
              <a:t>[핵심 요약]</a:t>
            </a:r>
          </a:p>
          <a:p>
            <a:pPr>
              <a:spcBef>
                <a:spcPts val="1400"/>
              </a:spcBef>
              <a:defRPr sz="1800">
                <a:solidFill>
                  <a:srgbClr val="34495E"/>
                </a:solidFill>
              </a:defRPr>
            </a:pPr>
            <a:r>
              <a:t>[AIR・FOODS株式会社]</a:t>
            </a:r>
            <a:br/>
            <a:r>
              <a:t>[画像1: https://prcdn.freetls.fastly.net/release_image/188387/1/188387-1-6598b38d205534a32cbbff1b33c6d64f-2553x1347.jpg?width=536&amp;amp;quality=85%2C75&amp;amp;format=jpeg&amp;amp;auto=webp&amp;amp;fit=bounds&amp;amp;am...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980B9"/>
                </a:solidFill>
              </a:defRPr>
            </a:pPr>
            <a:r>
              <a:t>출처: https://prtimes.jp/main/html/rd/p/000000001.000188387.html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2F3D"/>
          </a:solidFill>
          <a:ln>
            <a:solidFill>
              <a:srgbClr val="21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【MAX73％OFF】『Hamee 2026 Seasonal Lucky Bag』「iFace」や...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C8C8C8"/>
                </a:solidFill>
              </a:defRPr>
            </a:pPr>
            <a:r>
              <a:t>조회일: 2026-08-07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645920" cy="365760"/>
          </a:xfrm>
          <a:prstGeom prst="roundRect">
            <a:avLst/>
          </a:prstGeom>
          <a:solidFill>
            <a:srgbClr val="5499C7"/>
          </a:solidFill>
          <a:ln>
            <a:solidFill>
              <a:srgbClr val="549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일자: 2026-08-03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371600"/>
            <a:ext cx="1645920" cy="36576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중요도: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1645920" cy="36576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산업: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277295" cy="3474720"/>
          </a:xfrm>
          <a:prstGeom prst="roundRect">
            <a:avLst/>
          </a:prstGeom>
          <a:solidFill>
            <a:srgbClr val="F2F3F4"/>
          </a:solidFill>
          <a:ln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C3E50"/>
                </a:solidFill>
              </a:defRPr>
            </a:pPr>
            <a:r>
              <a:t>[핵심 요약]</a:t>
            </a:r>
          </a:p>
          <a:p>
            <a:pPr>
              <a:spcBef>
                <a:spcPts val="1400"/>
              </a:spcBef>
              <a:defRPr sz="1800">
                <a:solidFill>
                  <a:srgbClr val="34495E"/>
                </a:solidFill>
              </a:defRPr>
            </a:pPr>
            <a:r>
              <a:t>[Hamee]</a:t>
            </a:r>
            <a:br/>
            <a:r>
              <a:t>スマートフォングッズの商品開発、及び通販サイトを運営するHamee(ハミィ)株式会社（所在地：神奈川県小田原市、代表取締役社長：水島育大、証券コード：東証スタンダード3134）は、定番のスマホケースや画面保護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980B9"/>
                </a:solidFill>
              </a:defRPr>
            </a:pPr>
            <a:r>
              <a:t>출처: https://prtimes.jp/main/html/rd/p/000001676.000009971.html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2F3D"/>
          </a:solidFill>
          <a:ln>
            <a:solidFill>
              <a:srgbClr val="21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9月28日(月)AndTech「AI・ロボット・電子ラボノートの活用による自律自動実験の最新動向と研...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C8C8C8"/>
                </a:solidFill>
              </a:defRPr>
            </a:pPr>
            <a:r>
              <a:t>조회일: 2026-08-07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645920" cy="365760"/>
          </a:xfrm>
          <a:prstGeom prst="roundRect">
            <a:avLst/>
          </a:prstGeom>
          <a:solidFill>
            <a:srgbClr val="5499C7"/>
          </a:solidFill>
          <a:ln>
            <a:solidFill>
              <a:srgbClr val="549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일자: 2026-08-03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371600"/>
            <a:ext cx="1645920" cy="36576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중요도: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1645920" cy="36576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산업: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277295" cy="3474720"/>
          </a:xfrm>
          <a:prstGeom prst="roundRect">
            <a:avLst/>
          </a:prstGeom>
          <a:solidFill>
            <a:srgbClr val="F2F3F4"/>
          </a:solidFill>
          <a:ln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C3E50"/>
                </a:solidFill>
              </a:defRPr>
            </a:pPr>
            <a:r>
              <a:t>[핵심 요약]</a:t>
            </a:r>
          </a:p>
          <a:p>
            <a:pPr>
              <a:spcBef>
                <a:spcPts val="1400"/>
              </a:spcBef>
              <a:defRPr sz="1800">
                <a:solidFill>
                  <a:srgbClr val="34495E"/>
                </a:solidFill>
              </a:defRPr>
            </a:pPr>
            <a:r>
              <a:t>[AndTech]</a:t>
            </a:r>
            <a:br/>
            <a:r>
              <a:t>[画像1: https://prcdn.freetls.fastly.net/release_image/80053/1764/80053-1764-2e15d4147bb1db1908ed9a4141654248-1920x1005.jpg?width=536&amp;amp;quality=85%2C75&amp;amp;format=jpeg&amp;amp;auto=webp&amp;amp;fit=bound...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980B9"/>
                </a:solidFill>
              </a:defRPr>
            </a:pPr>
            <a:r>
              <a:t>출처: https://prtimes.jp/main/html/rd/p/000001764.000080053.html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2F3D"/>
          </a:solidFill>
          <a:ln>
            <a:solidFill>
              <a:srgbClr val="21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【事例紹介】クラフトバンクの開発課題解決と改善サイクルの定着を実現した、AI駆動開発アナリティクス「...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C8C8C8"/>
                </a:solidFill>
              </a:defRPr>
            </a:pPr>
            <a:r>
              <a:t>조회일: 2026-08-07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645920" cy="365760"/>
          </a:xfrm>
          <a:prstGeom prst="roundRect">
            <a:avLst/>
          </a:prstGeom>
          <a:solidFill>
            <a:srgbClr val="5499C7"/>
          </a:solidFill>
          <a:ln>
            <a:solidFill>
              <a:srgbClr val="549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일자: 2026-08-03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371600"/>
            <a:ext cx="1645920" cy="36576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중요도: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1645920" cy="36576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산업: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277295" cy="3474720"/>
          </a:xfrm>
          <a:prstGeom prst="roundRect">
            <a:avLst/>
          </a:prstGeom>
          <a:solidFill>
            <a:srgbClr val="F2F3F4"/>
          </a:solidFill>
          <a:ln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C3E50"/>
                </a:solidFill>
              </a:defRPr>
            </a:pPr>
            <a:r>
              <a:t>[핵심 요약]</a:t>
            </a:r>
          </a:p>
          <a:p>
            <a:pPr>
              <a:spcBef>
                <a:spcPts val="1400"/>
              </a:spcBef>
              <a:defRPr sz="1800">
                <a:solidFill>
                  <a:srgbClr val="34495E"/>
                </a:solidFill>
              </a:defRPr>
            </a:pPr>
            <a:r>
              <a:t>[supa, inc.]</a:t>
            </a:r>
            <a:br/>
            <a:r>
              <a:t>supa, inc.（本社: 東京都渋谷区／代表取締役CEO: 田中 和希、以下「supa, inc.」）は、建設経営の伴走型AI/DX共創企業であるクラフトバンク株式会社（本社: 東京都中央区／代表取締役社長: 韓 英志）へ同社が提...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980B9"/>
                </a:solidFill>
              </a:defRPr>
            </a:pPr>
            <a:r>
              <a:t>출처: https://prtimes.jp/main/html/rd/p/000000002.000185612.html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2F3D"/>
          </a:solidFill>
          <a:ln>
            <a:solidFill>
              <a:srgbClr val="21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モトローラ初のFold横開き「motorola razr fold」を、発売前にユーザーの皆さまへ体...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C8C8C8"/>
                </a:solidFill>
              </a:defRPr>
            </a:pPr>
            <a:r>
              <a:t>조회일: 2026-08-07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645920" cy="365760"/>
          </a:xfrm>
          <a:prstGeom prst="roundRect">
            <a:avLst/>
          </a:prstGeom>
          <a:solidFill>
            <a:srgbClr val="5499C7"/>
          </a:solidFill>
          <a:ln>
            <a:solidFill>
              <a:srgbClr val="549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일자: 2026-08-03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371600"/>
            <a:ext cx="1645920" cy="36576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중요도: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1645920" cy="36576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산업: EV, 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277295" cy="3474720"/>
          </a:xfrm>
          <a:prstGeom prst="roundRect">
            <a:avLst/>
          </a:prstGeom>
          <a:solidFill>
            <a:srgbClr val="F2F3F4"/>
          </a:solidFill>
          <a:ln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C3E50"/>
                </a:solidFill>
              </a:defRPr>
            </a:pPr>
            <a:r>
              <a:t>[핵심 요약]</a:t>
            </a:r>
          </a:p>
          <a:p>
            <a:pPr>
              <a:spcBef>
                <a:spcPts val="1400"/>
              </a:spcBef>
              <a:defRPr sz="1800">
                <a:solidFill>
                  <a:srgbClr val="34495E"/>
                </a:solidFill>
              </a:defRPr>
            </a:pPr>
            <a:r>
              <a:t>[モトローラ・モビリティ・ジャパン合同会社]</a:t>
            </a:r>
            <a:br/>
            <a:r>
              <a:t>モトローラ・モビリティ・ジャパン合同会社（本社：東京、代表取締役社長：北原秀文、以下「モトローラ」）は、2026年7 月21 日（火）、モトローラ初のファンミーティング「FAN APPRECIATION EVENT」を開催しまし...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980B9"/>
                </a:solidFill>
              </a:defRPr>
            </a:pPr>
            <a:r>
              <a:t>출처: https://prtimes.jp/main/html/rd/p/000000038.000132917.html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2F3D"/>
          </a:solidFill>
          <a:ln>
            <a:solidFill>
              <a:srgbClr val="21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LGWAN対応の自治体向けAIサービス「JAPAN AI 行政」提供開始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C8C8C8"/>
                </a:solidFill>
              </a:defRPr>
            </a:pPr>
            <a:r>
              <a:t>조회일: 2026-08-07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645920" cy="365760"/>
          </a:xfrm>
          <a:prstGeom prst="roundRect">
            <a:avLst/>
          </a:prstGeom>
          <a:solidFill>
            <a:srgbClr val="5499C7"/>
          </a:solidFill>
          <a:ln>
            <a:solidFill>
              <a:srgbClr val="549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일자: 2026-08-03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371600"/>
            <a:ext cx="1645920" cy="36576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중요도: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1645920" cy="36576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산업: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277295" cy="3474720"/>
          </a:xfrm>
          <a:prstGeom prst="roundRect">
            <a:avLst/>
          </a:prstGeom>
          <a:solidFill>
            <a:srgbClr val="F2F3F4"/>
          </a:solidFill>
          <a:ln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C3E50"/>
                </a:solidFill>
              </a:defRPr>
            </a:pPr>
            <a:r>
              <a:t>[핵심 요약]</a:t>
            </a:r>
          </a:p>
          <a:p>
            <a:pPr>
              <a:spcBef>
                <a:spcPts val="1400"/>
              </a:spcBef>
              <a:defRPr sz="1800">
                <a:solidFill>
                  <a:srgbClr val="34495E"/>
                </a:solidFill>
              </a:defRPr>
            </a:pPr>
            <a:r>
              <a:t>[JAPAN AI株式会社]</a:t>
            </a:r>
            <a:br/>
            <a:r>
              <a:t>[画像: https://prcdn.freetls.fastly.net/release_image/124536/163/124536-163-b726260f64f973da0355bd3e1fe0a4a9-1920x1080.png?width=536&amp;amp;quality=85%2C75&amp;amp;format=jpeg&amp;amp;auto=webp&amp;amp;fit=bounds...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980B9"/>
                </a:solidFill>
              </a:defRPr>
            </a:pPr>
            <a:r>
              <a:t>출처: https://prtimes.jp/main/html/rd/p/000000163.000124536.html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2F3D"/>
          </a:solidFill>
          <a:ln>
            <a:solidFill>
              <a:srgbClr val="21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チェック・ポイント、ファイアウォール市場に革新をもたらす「AI Network Firewall」を...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C8C8C8"/>
                </a:solidFill>
              </a:defRPr>
            </a:pPr>
            <a:r>
              <a:t>조회일: 2026-08-07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645920" cy="365760"/>
          </a:xfrm>
          <a:prstGeom prst="roundRect">
            <a:avLst/>
          </a:prstGeom>
          <a:solidFill>
            <a:srgbClr val="5499C7"/>
          </a:solidFill>
          <a:ln>
            <a:solidFill>
              <a:srgbClr val="549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일자: 2026-08-03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371600"/>
            <a:ext cx="1645920" cy="36576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중요도: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1645920" cy="36576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산업: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277295" cy="3474720"/>
          </a:xfrm>
          <a:prstGeom prst="roundRect">
            <a:avLst/>
          </a:prstGeom>
          <a:solidFill>
            <a:srgbClr val="F2F3F4"/>
          </a:solidFill>
          <a:ln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C3E50"/>
                </a:solidFill>
              </a:defRPr>
            </a:pPr>
            <a:r>
              <a:t>[핵심 요약]</a:t>
            </a:r>
          </a:p>
          <a:p>
            <a:pPr>
              <a:spcBef>
                <a:spcPts val="1400"/>
              </a:spcBef>
              <a:defRPr sz="1800">
                <a:solidFill>
                  <a:srgbClr val="34495E"/>
                </a:solidFill>
              </a:defRPr>
            </a:pPr>
            <a:r>
              <a:t>[チェック・ポイント・ソフトウェア・テクノロジーズ株式会社]</a:t>
            </a:r>
            <a:br/>
            <a:r>
              <a:t>サイバーセキュリティソリューションのパイオニアであり、世界的リーダーであるチェック・ポイント・ソフトウェア・テクノロジーズ（Check Point(R) Software Technologies Ltd.(https://www.checkpoint.com/)、N...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980B9"/>
                </a:solidFill>
              </a:defRPr>
            </a:pPr>
            <a:r>
              <a:t>출처: https://prtimes.jp/main/html/rd/p/000000538.000021207.html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2F3D"/>
          </a:solidFill>
          <a:ln>
            <a:solidFill>
              <a:srgbClr val="21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「Preferred Networks・松尾研究所」登壇、LAPRASとRevivが AI人材採用イ...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C8C8C8"/>
                </a:solidFill>
              </a:defRPr>
            </a:pPr>
            <a:r>
              <a:t>조회일: 2026-08-07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645920" cy="365760"/>
          </a:xfrm>
          <a:prstGeom prst="roundRect">
            <a:avLst/>
          </a:prstGeom>
          <a:solidFill>
            <a:srgbClr val="5499C7"/>
          </a:solidFill>
          <a:ln>
            <a:solidFill>
              <a:srgbClr val="549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일자: 2026-08-03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371600"/>
            <a:ext cx="1645920" cy="36576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중요도: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1645920" cy="36576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산업: EV,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277295" cy="3474720"/>
          </a:xfrm>
          <a:prstGeom prst="roundRect">
            <a:avLst/>
          </a:prstGeom>
          <a:solidFill>
            <a:srgbClr val="F2F3F4"/>
          </a:solidFill>
          <a:ln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C3E50"/>
                </a:solidFill>
              </a:defRPr>
            </a:pPr>
            <a:r>
              <a:t>[핵심 요약]</a:t>
            </a:r>
          </a:p>
          <a:p>
            <a:pPr>
              <a:spcBef>
                <a:spcPts val="1400"/>
              </a:spcBef>
              <a:defRPr sz="1800">
                <a:solidFill>
                  <a:srgbClr val="34495E"/>
                </a:solidFill>
              </a:defRPr>
            </a:pPr>
            <a:r>
              <a:t>[株式会社Reviv]</a:t>
            </a:r>
            <a:br/>
            <a:r>
              <a:t>株式会社Reviv（本社：東京都千代田区、代表取締役社長：藤崎 祐太、以下「Reviv」）は、LAPRAS株式会社（本社：東京都渋谷区、代表取締役社長：染谷健太郎、以下「LAPRAS」）との共催で、AI人材の採用と組織づく...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980B9"/>
                </a:solidFill>
              </a:defRPr>
            </a:pPr>
            <a:r>
              <a:t>출처: https://prtimes.jp/main/html/rd/p/000000004.000183023.html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2F3D"/>
          </a:solidFill>
          <a:ln>
            <a:solidFill>
              <a:srgbClr val="21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CoeFont、会議データを組織のインサイトに変えるAI議事録プラットフォーム「CoeFont Me...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C8C8C8"/>
                </a:solidFill>
              </a:defRPr>
            </a:pPr>
            <a:r>
              <a:t>조회일: 2026-08-07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645920" cy="365760"/>
          </a:xfrm>
          <a:prstGeom prst="roundRect">
            <a:avLst/>
          </a:prstGeom>
          <a:solidFill>
            <a:srgbClr val="5499C7"/>
          </a:solidFill>
          <a:ln>
            <a:solidFill>
              <a:srgbClr val="549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일자: 2026-08-03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371600"/>
            <a:ext cx="1645920" cy="36576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중요도: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1645920" cy="36576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산업: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277295" cy="3474720"/>
          </a:xfrm>
          <a:prstGeom prst="roundRect">
            <a:avLst/>
          </a:prstGeom>
          <a:solidFill>
            <a:srgbClr val="F2F3F4"/>
          </a:solidFill>
          <a:ln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C3E50"/>
                </a:solidFill>
              </a:defRPr>
            </a:pPr>
            <a:r>
              <a:t>[핵심 요약]</a:t>
            </a:r>
          </a:p>
          <a:p>
            <a:pPr>
              <a:spcBef>
                <a:spcPts val="1400"/>
              </a:spcBef>
              <a:defRPr sz="1800">
                <a:solidFill>
                  <a:srgbClr val="34495E"/>
                </a:solidFill>
              </a:defRPr>
            </a:pPr>
            <a:r>
              <a:t>[株式会社CoeFont]</a:t>
            </a:r>
            <a:br/>
            <a:r>
              <a:t>AI音声技術・プラットフォームを開発する株式会社CoeFont（本社：東京都港区、代表取締役：早川尚吾、以下「当社」）は、会議の議事録を組織全体の資産へと変えるAI議事録サービス「CoeFont MeetingBank（コエフ...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980B9"/>
                </a:solidFill>
              </a:defRPr>
            </a:pPr>
            <a:r>
              <a:t>출처: https://prtimes.jp/main/html/rd/p/000000138.000078329.html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2F3D"/>
          </a:solidFill>
          <a:ln>
            <a:solidFill>
              <a:srgbClr val="21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「クレハ-産総研 アグリフロンティア連携研究ラボ」を設立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C8C8C8"/>
                </a:solidFill>
              </a:defRPr>
            </a:pPr>
            <a:r>
              <a:t>조회일: 2026-08-07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645920" cy="365760"/>
          </a:xfrm>
          <a:prstGeom prst="roundRect">
            <a:avLst/>
          </a:prstGeom>
          <a:solidFill>
            <a:srgbClr val="5499C7"/>
          </a:solidFill>
          <a:ln>
            <a:solidFill>
              <a:srgbClr val="549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일자: 2026-08-03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371600"/>
            <a:ext cx="1645920" cy="36576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중요도: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1645920" cy="36576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산업: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277295" cy="3474720"/>
          </a:xfrm>
          <a:prstGeom prst="roundRect">
            <a:avLst/>
          </a:prstGeom>
          <a:solidFill>
            <a:srgbClr val="F2F3F4"/>
          </a:solidFill>
          <a:ln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C3E50"/>
                </a:solidFill>
              </a:defRPr>
            </a:pPr>
            <a:r>
              <a:t>[핵심 요약]</a:t>
            </a:r>
          </a:p>
          <a:p>
            <a:pPr>
              <a:spcBef>
                <a:spcPts val="1400"/>
              </a:spcBef>
              <a:defRPr sz="1800">
                <a:solidFill>
                  <a:srgbClr val="34495E"/>
                </a:solidFill>
              </a:defRPr>
            </a:pPr>
            <a:r>
              <a:t>[AIST Solutions]</a:t>
            </a:r>
            <a:br/>
            <a:r>
              <a:t>&lt;h2 class="pr-header--highlight"&gt;概要&lt;/h2&gt;産総研グループ（国立研究開発法人産業技術総合研究所（以下「産総研」）および株式会社 AIST Solutions）は、株式会社クレハ（以下「クレハ」）と、2026 年 8 月 1 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980B9"/>
                </a:solidFill>
              </a:defRPr>
            </a:pPr>
            <a:r>
              <a:t>출처: https://prtimes.jp/main/html/rd/p/000000118.000146304.html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2F3D"/>
          </a:solidFill>
          <a:ln>
            <a:solidFill>
              <a:srgbClr val="21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電通総研、データ・システム・組織をつなぎ“AI-Ready”な企業データ基盤を実現する「Busine...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C8C8C8"/>
                </a:solidFill>
              </a:defRPr>
            </a:pPr>
            <a:r>
              <a:t>조회일: 2026-08-07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645920" cy="365760"/>
          </a:xfrm>
          <a:prstGeom prst="roundRect">
            <a:avLst/>
          </a:prstGeom>
          <a:solidFill>
            <a:srgbClr val="5499C7"/>
          </a:solidFill>
          <a:ln>
            <a:solidFill>
              <a:srgbClr val="549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일자: 2026-08-03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371600"/>
            <a:ext cx="1645920" cy="36576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중요도: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1645920" cy="36576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산업: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277295" cy="3474720"/>
          </a:xfrm>
          <a:prstGeom prst="roundRect">
            <a:avLst/>
          </a:prstGeom>
          <a:solidFill>
            <a:srgbClr val="F2F3F4"/>
          </a:solidFill>
          <a:ln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C3E50"/>
                </a:solidFill>
              </a:defRPr>
            </a:pPr>
            <a:r>
              <a:t>[핵심 요약]</a:t>
            </a:r>
          </a:p>
          <a:p>
            <a:pPr>
              <a:spcBef>
                <a:spcPts val="1400"/>
              </a:spcBef>
              <a:defRPr sz="1800">
                <a:solidFill>
                  <a:srgbClr val="34495E"/>
                </a:solidFill>
              </a:defRPr>
            </a:pPr>
            <a:r>
              <a:t>[株式会社電通総研]</a:t>
            </a:r>
            <a:br/>
            <a:r>
              <a:t>テクノロジーで企業と社会の進化を実現する株式会社電通総研（本社：東京都港区、代表取締役社長：岩本 浩久、以下「電通総研」）は、2026年8月3日（月）より、「BusinessSPECTRE（ビジネススペクトル）」シリー...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980B9"/>
                </a:solidFill>
              </a:defRPr>
            </a:pPr>
            <a:r>
              <a:t>출처: https://prtimes.jp/main/html/rd/p/000000476.000043138.html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2F3D"/>
          </a:solidFill>
          <a:ln>
            <a:solidFill>
              <a:srgbClr val="21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生成AIに選ばれる企業へ！GMO NIKKO、実装内容レコメンド機能を備えた国内初の総合AIO対策ツ...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C8C8C8"/>
                </a:solidFill>
              </a:defRPr>
            </a:pPr>
            <a:r>
              <a:t>조회일: 2026-08-07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645920" cy="365760"/>
          </a:xfrm>
          <a:prstGeom prst="roundRect">
            <a:avLst/>
          </a:prstGeom>
          <a:solidFill>
            <a:srgbClr val="5499C7"/>
          </a:solidFill>
          <a:ln>
            <a:solidFill>
              <a:srgbClr val="549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일자: 2026-08-03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371600"/>
            <a:ext cx="1645920" cy="36576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중요도: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1645920" cy="36576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산업: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277295" cy="3474720"/>
          </a:xfrm>
          <a:prstGeom prst="roundRect">
            <a:avLst/>
          </a:prstGeom>
          <a:solidFill>
            <a:srgbClr val="F2F3F4"/>
          </a:solidFill>
          <a:ln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C3E50"/>
                </a:solidFill>
              </a:defRPr>
            </a:pPr>
            <a:r>
              <a:t>[핵심 요약]</a:t>
            </a:r>
          </a:p>
          <a:p>
            <a:pPr>
              <a:spcBef>
                <a:spcPts val="1400"/>
              </a:spcBef>
              <a:defRPr sz="1800">
                <a:solidFill>
                  <a:srgbClr val="34495E"/>
                </a:solidFill>
              </a:defRPr>
            </a:pPr>
            <a:r>
              <a:t>[GMOインターネットグループ]</a:t>
            </a:r>
            <a:br/>
            <a:r>
              <a:t>　GMOインターネットグループのGMO NIKKO株式会社（※1）（代表取締役 社長執行役員：佐久間 勇　以下、GMO NIKKO）は、生成AI時代における企業情報の可視性を最適化するサービス「GMO AI最適化ブースト」において...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980B9"/>
                </a:solidFill>
              </a:defRPr>
            </a:pPr>
            <a:r>
              <a:t>출처: https://prtimes.jp/main/html/rd/p/000005459.000000136.html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2F3D"/>
          </a:solidFill>
          <a:ln>
            <a:solidFill>
              <a:srgbClr val="21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カワサキからスーパーチャージドエンジンによるパフォーマンスと、上質なライディングフィールを高次元で両...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C8C8C8"/>
                </a:solidFill>
              </a:defRPr>
            </a:pPr>
            <a:r>
              <a:t>조회일: 2026-08-07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645920" cy="365760"/>
          </a:xfrm>
          <a:prstGeom prst="roundRect">
            <a:avLst/>
          </a:prstGeom>
          <a:solidFill>
            <a:srgbClr val="5499C7"/>
          </a:solidFill>
          <a:ln>
            <a:solidFill>
              <a:srgbClr val="549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일자: 2026-08-03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371600"/>
            <a:ext cx="1645920" cy="36576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중요도: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1645920" cy="36576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산업: KI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277295" cy="3474720"/>
          </a:xfrm>
          <a:prstGeom prst="roundRect">
            <a:avLst/>
          </a:prstGeom>
          <a:solidFill>
            <a:srgbClr val="F2F3F4"/>
          </a:solidFill>
          <a:ln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C3E50"/>
                </a:solidFill>
              </a:defRPr>
            </a:pPr>
            <a:r>
              <a:t>[핵심 요약]</a:t>
            </a:r>
          </a:p>
          <a:p>
            <a:pPr>
              <a:spcBef>
                <a:spcPts val="1400"/>
              </a:spcBef>
              <a:defRPr sz="1800">
                <a:solidFill>
                  <a:srgbClr val="34495E"/>
                </a:solidFill>
              </a:defRPr>
            </a:pPr>
            <a:r>
              <a:t>[株式会社カワサキモータースジャパン]</a:t>
            </a:r>
            <a:br/>
            <a:r>
              <a:t>株式会社カワサキモータースジャパン(本社：兵庫県明石市、代表取締役社長：佐伯 健児)は、ハイパースポーツモデル「Z H2 SE」を、2026年9月5日(土)に発売いたします。</a:t>
            </a:r>
            <a:br/>
            <a:r>
              <a:t>https://www.kawasaki-motors.com/ja-jp/mo...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980B9"/>
                </a:solidFill>
              </a:defRPr>
            </a:pPr>
            <a:r>
              <a:t>출처: https://prtimes.jp/main/html/rd/p/000000963.000028066.html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