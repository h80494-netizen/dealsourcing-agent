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VC 딜소싱 - 주요 유망 뉴스 요약 리포트</a:t>
            </a:r>
          </a:p>
        </p:txBody>
      </p:sp>
      <p:sp>
        <p:nvSpPr>
          <p:cNvPr id="3" name="Subtitle 2"/>
          <p:cNvSpPr>
            <a:spLocks noGrp="1"/>
          </p:cNvSpPr>
          <p:nvPr>
            <p:ph type="subTitle" idx="1"/>
          </p:nvPr>
        </p:nvSpPr>
        <p:spPr/>
        <p:txBody>
          <a:bodyPr/>
          <a:lstStyle/>
          <a:p>
            <a:r>
              <a:t>생성일: 2026-08-07 21:43</a:t>
            </a:r>
          </a:p>
          <a:p>
            <a:r>
              <a:t>고등급 뉴스 브리핑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Balance Theory Raises $19M in Series A Funding - FinSMEs</a:t>
            </a:r>
          </a:p>
        </p:txBody>
      </p:sp>
      <p:sp>
        <p:nvSpPr>
          <p:cNvPr id="3" name="Content Placeholder 2"/>
          <p:cNvSpPr>
            <a:spLocks noGrp="1"/>
          </p:cNvSpPr>
          <p:nvPr>
            <p:ph idx="1"/>
          </p:nvPr>
        </p:nvSpPr>
        <p:spPr/>
        <p:txBody>
          <a:bodyPr/>
          <a:lstStyle/>
          <a:p/>
          <a:p>
            <a:pPr>
              <a:defRPr sz="1400"/>
            </a:pPr>
            <a:r>
              <a:t>발행일: 2026-08-03 06:53:31.000000</a:t>
            </a:r>
          </a:p>
          <a:p>
            <a:pPr>
              <a:defRPr sz="1400"/>
            </a:pPr>
            <a:r>
              <a:t>영향력 점수: 70.0</a:t>
            </a:r>
          </a:p>
          <a:p>
            <a:pPr>
              <a:defRPr sz="1400"/>
            </a:pPr>
            <a:r>
              <a:t>유망 산업군: EV, AI</a:t>
            </a:r>
          </a:p>
          <a:p>
            <a:br/>
            <a:pPr>
              <a:defRPr b="1" sz="1600"/>
            </a:pPr>
            <a:r>
              <a:t>[요약]</a:t>
            </a:r>
          </a:p>
          <a:p>
            <a:pPr>
              <a:defRPr sz="1600"/>
            </a:pPr>
            <a:r>
              <a:t>&lt;a href="https://news.google.com/rss/articles/CBMiigFBVV95cUxQcWlwMWRyRXp5cUV2S1lNVmNuT2lUUmVwYXFLQ204Y1RGbmtIWnY4M2lPX0VIMDBvN0ZrRENZMkxZWG1mTmd0Ui1IZlEyM2ZGdXlWVVRvOEk3ekRROEVjSW9CSWJXWl9BNGdlejdHX1dkYlNDdGNQSklWby1uMWJ6Wjh1RGpKRUJUN0E?oc=5" target="_blank"&gt;Balance Theory Raises $19M in Series A Funding&lt;/a&gt;&amp;nbsp;&amp;nbsp;&lt;font color="#6f6f6f"&gt;FinSMEs&lt;/font&gt;</a:t>
            </a:r>
          </a:p>
          <a:p>
            <a:br/>
            <a:pPr>
              <a:defRPr sz="1200"/>
            </a:pPr>
            <a:r>
              <a:t>원문 링크: https://news.google.com/rss/articles/CBMiigFBVV95cUxQcWlwMWRyRXp5cUV2S1lNVmNuT2lUUmVwYXFLQ204Y1RGbmtIWnY4M2lPX0VIMDBvN0ZrRENZMkxZWG1mTmd0Ui1IZlEyM2ZGdXlWVVRvOEk3ekRROEVjSW9CSWJXWl9BNGdlejdHX1dkYlNDdGNQSklWby1uMWJ6Wjh1RGpKRUJUN0E?oc=5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“破壳机器人”完成亿美元级Pre-A轮融资</a:t>
            </a:r>
          </a:p>
        </p:txBody>
      </p:sp>
      <p:sp>
        <p:nvSpPr>
          <p:cNvPr id="3" name="Content Placeholder 2"/>
          <p:cNvSpPr>
            <a:spLocks noGrp="1"/>
          </p:cNvSpPr>
          <p:nvPr>
            <p:ph idx="1"/>
          </p:nvPr>
        </p:nvSpPr>
        <p:spPr/>
        <p:txBody>
          <a:bodyPr/>
          <a:lstStyle/>
          <a:p/>
          <a:p>
            <a:pPr>
              <a:defRPr sz="1400"/>
            </a:pPr>
            <a:r>
              <a:t>발행일: 2026-08-03 05:18:31.000000</a:t>
            </a:r>
          </a:p>
          <a:p>
            <a:pPr>
              <a:defRPr sz="1400"/>
            </a:pPr>
            <a:r>
              <a:t>영향력 점수: 70.0</a:t>
            </a:r>
          </a:p>
          <a:p>
            <a:pPr>
              <a:defRPr sz="1400"/>
            </a:pPr>
            <a:r>
              <a:t>유망 산업군: 机器人</a:t>
            </a:r>
          </a:p>
          <a:p>
            <a:br/>
            <a:pPr>
              <a:defRPr b="1" sz="1600"/>
            </a:pPr>
            <a:r>
              <a:t>[요약]</a:t>
            </a:r>
          </a:p>
          <a:p>
            <a:pPr>
              <a:defRPr sz="1600"/>
            </a:pPr>
            <a:r>
              <a:t>36氪获悉，近日，通用具身智能公司“破壳机器人”完成亿美元级Pre-A轮融资。本轮融资由顺为资本与经纬创投共同领投，九坤创投、钧山资本、SEE Fund、猎聘投资、元诺资本、钟鼎资本等多家财务及产业投资机构参与，云启资本、小米战投、弘晖基金、英诺天使基金、东方嘉富等老股东持续加注。</a:t>
            </a:r>
          </a:p>
          <a:p>
            <a:br/>
            <a:pPr>
              <a:defRPr sz="1200"/>
            </a:pPr>
            <a:r>
              <a:t>원문 링크: https://36kr.com/newsflashes/3923350503566983?f=rss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일리오, 딥테크 TIPS·MIT ILP 연속 성과…글로벌 팬덤 AI 인프라 구축 나선다</a:t>
            </a:r>
          </a:p>
        </p:txBody>
      </p:sp>
      <p:sp>
        <p:nvSpPr>
          <p:cNvPr id="3" name="Content Placeholder 2"/>
          <p:cNvSpPr>
            <a:spLocks noGrp="1"/>
          </p:cNvSpPr>
          <p:nvPr>
            <p:ph idx="1"/>
          </p:nvPr>
        </p:nvSpPr>
        <p:spPr/>
        <p:txBody>
          <a:bodyPr/>
          <a:lstStyle/>
          <a:p/>
          <a:p>
            <a:pPr>
              <a:defRPr sz="1400"/>
            </a:pPr>
            <a:r>
              <a:t>발행일: 2026-08-03 05:16:16.000000</a:t>
            </a:r>
          </a:p>
          <a:p>
            <a:pPr>
              <a:defRPr sz="1400"/>
            </a:pPr>
            <a:r>
              <a:t>영향력 점수: 70.0</a:t>
            </a:r>
          </a:p>
          <a:p>
            <a:pPr>
              <a:defRPr sz="1400"/>
            </a:pPr>
            <a:r>
              <a:t>유망 산업군: AI, 딥테크, IA</a:t>
            </a:r>
          </a:p>
          <a:p>
            <a:br/>
            <a:pPr>
              <a:defRPr b="1" sz="1600"/>
            </a:pPr>
            <a:r>
              <a:t>[요약]</a:t>
            </a:r>
          </a:p>
          <a:p>
            <a:pPr>
              <a:defRPr sz="1600"/>
            </a:pPr>
            <a:r>
              <a:t>&lt;p&gt;팬덤 플랫폼 '팬심'을 운영하는 일리오가 딥테크 TIPS 선정에 이어 MIT Industrial Liaison Program(ILP)에 참여하며 AI 기반 팬덤 운영 기술 고도화에 나선다. 팬덤 데이터와 AI를 결합해 크리에이터와 기업의 글로벌 팬덤 운영을 지원하는 인...&lt;/p&gt;</a:t>
            </a:r>
            <a:br/>
            <a:r>
              <a:t>&lt;p&gt;The post &lt;a href="https://www.venturesquare.net/1103069/" rel="nofollow"&gt;일리오, 딥테크 TIPS·MIT ILP 연속 성과…글로벌 팬덤 AI 인프라 구축 나선다&lt;/a&gt; appeared first on &lt;a href="https://www.venturesquare.net" rel="nofollow"&gt;벤처스퀘어&lt;/a&gt;.&lt;/p&gt;</a:t>
            </a:r>
          </a:p>
          <a:p>
            <a:br/>
            <a:pPr>
              <a:defRPr sz="1200"/>
            </a:pPr>
            <a:r>
              <a:t>원문 링크: https://www.venturesquare.net/1103069/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破壳机器人完成亿美元级Pre-A轮融资 - 搜狐网</a:t>
            </a:r>
          </a:p>
        </p:txBody>
      </p:sp>
      <p:sp>
        <p:nvSpPr>
          <p:cNvPr id="3" name="Content Placeholder 2"/>
          <p:cNvSpPr>
            <a:spLocks noGrp="1"/>
          </p:cNvSpPr>
          <p:nvPr>
            <p:ph idx="1"/>
          </p:nvPr>
        </p:nvSpPr>
        <p:spPr/>
        <p:txBody>
          <a:bodyPr/>
          <a:lstStyle/>
          <a:p/>
          <a:p>
            <a:pPr>
              <a:defRPr sz="1400"/>
            </a:pPr>
            <a:r>
              <a:t>발행일: 2026-08-03 05:13:00.000000</a:t>
            </a:r>
          </a:p>
          <a:p>
            <a:pPr>
              <a:defRPr sz="1400"/>
            </a:pPr>
            <a:r>
              <a:t>영향력 점수: 70.0</a:t>
            </a:r>
          </a:p>
          <a:p>
            <a:pPr>
              <a:defRPr sz="1400"/>
            </a:pPr>
            <a:r>
              <a:t>유망 산업군: 机器人, IA</a:t>
            </a:r>
          </a:p>
          <a:p>
            <a:br/>
            <a:pPr>
              <a:defRPr b="1" sz="1600"/>
            </a:pPr>
            <a:r>
              <a:t>[요약]</a:t>
            </a:r>
          </a:p>
          <a:p>
            <a:pPr>
              <a:defRPr sz="1600"/>
            </a:pPr>
            <a:r>
              <a:t>&lt;a href="https://news.google.com/rss/articles/CBMiiAFBVV95cUxNNHl1VWZFU3VfMmNySWpXYzlnNjZVVjQ5elozZjYzWm4xWnV1NE9DSlBjV3ZJM09EdTNNSjZTdU1SWC1zUmRhNW5UZFFCbzZFeURkR0FFaUQ2bTJqZmlsZS0zc0I0eXV6RXZiUzhzNkZTeDhEeE5JZ1A0aFdYNmZfS0FNWXhTSENL?oc=5" target="_blank"&gt;破壳机器人完成亿美元级Pre-A轮融资&lt;/a&gt;&amp;nbsp;&amp;nbsp;&lt;font color="#6f6f6f"&gt;搜狐网&lt;/font&gt;</a:t>
            </a:r>
          </a:p>
          <a:p>
            <a:br/>
            <a:pPr>
              <a:defRPr sz="1200"/>
            </a:pPr>
            <a:r>
              <a:t>원문 링크: https://news.google.com/rss/articles/CBMiiAFBVV95cUxNNHl1VWZFU3VfMmNySWpXYzlnNjZVVjQ5elozZjYzWm4xWnV1NE9DSlBjV3ZJM09EdTNNSjZTdU1SWC1zUmRhNW5UZFFCbzZFeURkR0FFaUQ2bTJqZmlsZS0zc0I0eXV6RXZiUzhzNkZTeDhEeE5JZ1A0aFdYNmZfS0FNWXhTSENL?oc=5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Tech start-up seeks £800,000 pre-seed funding ahead of official launch - Insider Media Ltd</a:t>
            </a:r>
          </a:p>
        </p:txBody>
      </p:sp>
      <p:sp>
        <p:nvSpPr>
          <p:cNvPr id="3" name="Content Placeholder 2"/>
          <p:cNvSpPr>
            <a:spLocks noGrp="1"/>
          </p:cNvSpPr>
          <p:nvPr>
            <p:ph idx="1"/>
          </p:nvPr>
        </p:nvSpPr>
        <p:spPr/>
        <p:txBody>
          <a:bodyPr/>
          <a:lstStyle/>
          <a:p/>
          <a:p>
            <a:pPr>
              <a:defRPr sz="1400"/>
            </a:pPr>
            <a:r>
              <a:t>발행일: 2026-08-03 05:00:00.000000</a:t>
            </a:r>
          </a:p>
          <a:p>
            <a:pPr>
              <a:defRPr sz="1400"/>
            </a:pPr>
            <a:r>
              <a:t>영향력 점수: 70.0</a:t>
            </a:r>
          </a:p>
          <a:p>
            <a:pPr>
              <a:defRPr sz="1400"/>
            </a:pPr>
            <a:r>
              <a:t>유망 산업군: IA</a:t>
            </a:r>
          </a:p>
          <a:p>
            <a:br/>
            <a:pPr>
              <a:defRPr b="1" sz="1600"/>
            </a:pPr>
            <a:r>
              <a:t>[요약]</a:t>
            </a:r>
          </a:p>
          <a:p>
            <a:pPr>
              <a:defRPr sz="1600"/>
            </a:pPr>
            <a:r>
              <a:t>&lt;a href="https://news.google.com/rss/articles/CBMirwFBVV95cUxOWXZSMGxHWG9SdDM2aUpaX1lEdjFnNDdyZHNLMXNzVnNnb25uUFlBNy1nZVFmdTVJSTBYNXJOMTA0LVM1dzR0bDJkcDlNY0liS0JpNG9XWmNadFJUdXd6cGVyMkw2SFpQUkxKLV9XRU81cWVKNkM2NWZ0a09ENHVBNTRXYXJ0WDMxUGpSZHQxTmtkSm9BYjF6eW9NWDBVVEtLaXM5NEl6TE0zR0FUUWlZ?oc=5" target="_blank"&gt;Tech start-up seeks £800,000 pre-seed funding ahead of official launch&lt;/a&gt;&amp;nbsp;&amp;nbsp;&lt;font color="#6f6f6f"&gt;Insider Media Ltd&lt;/font&gt;</a:t>
            </a:r>
          </a:p>
          <a:p>
            <a:br/>
            <a:pPr>
              <a:defRPr sz="1200"/>
            </a:pPr>
            <a:r>
              <a:t>원문 링크: https://news.google.com/rss/articles/CBMirwFBVV95cUxOWXZSMGxHWG9SdDM2aUpaX1lEdjFnNDdyZHNLMXNzVnNnb25uUFlBNy1nZVFmdTVJSTBYNXJOMTA0LVM1dzR0bDJkcDlNY0liS0JpNG9XWmNadFJUdXd6cGVyMkw2SFpQUkxKLV9XRU81cWVKNkM2NWZ0a09ENHVBNTRXYXJ0WDMxUGpSZHQxTmtkSm9BYjF6eW9NWDBVVEtLaXM5NEl6TE0zR0FUUWlZ?oc=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协鑫能科参与幺正量子A轮融资 - 搜狐网</a:t>
            </a:r>
          </a:p>
        </p:txBody>
      </p:sp>
      <p:sp>
        <p:nvSpPr>
          <p:cNvPr id="3" name="Content Placeholder 2"/>
          <p:cNvSpPr>
            <a:spLocks noGrp="1"/>
          </p:cNvSpPr>
          <p:nvPr>
            <p:ph idx="1"/>
          </p:nvPr>
        </p:nvSpPr>
        <p:spPr/>
        <p:txBody>
          <a:bodyPr/>
          <a:lstStyle/>
          <a:p/>
          <a:p>
            <a:pPr>
              <a:defRPr sz="1400"/>
            </a:pPr>
            <a:r>
              <a:t>발행일: 2026-08-03 02:58:00.000000</a:t>
            </a:r>
          </a:p>
          <a:p>
            <a:pPr>
              <a:defRPr sz="1400"/>
            </a:pPr>
            <a:r>
              <a:t>영향력 점수: 70.0</a:t>
            </a:r>
          </a:p>
          <a:p>
            <a:pPr>
              <a:defRPr sz="1400"/>
            </a:pPr>
            <a:r>
              <a:t>유망 산업군: EV</a:t>
            </a:r>
          </a:p>
          <a:p>
            <a:br/>
            <a:pPr>
              <a:defRPr b="1" sz="1600"/>
            </a:pPr>
            <a:r>
              <a:t>[요약]</a:t>
            </a:r>
          </a:p>
          <a:p>
            <a:pPr>
              <a:defRPr sz="1600"/>
            </a:pPr>
            <a:r>
              <a:t>&lt;a href="https://news.google.com/rss/articles/CBMijAFBVV95cUxPS0pFZUZmQmlibnVRSTlvd3ZoQ1hVTWNrdkh0ckRyV1FPRUU1OVdSeEVUaGxIeEVlSnFaNU10cVpxZlRaNFYybDU3MzRCeVF2azdXUUxMQXI3MFRSbS03M0VrbEZYYnpaQnVwZW9DTzEtdElGZ0R6MlFjRTIzU0JJT1RhcFpBVVlDV2JWbg?oc=5" target="_blank"&gt;协鑫能科参与幺正量子A轮融资&lt;/a&gt;&amp;nbsp;&amp;nbsp;&lt;font color="#6f6f6f"&gt;搜狐网&lt;/font&gt;</a:t>
            </a:r>
          </a:p>
          <a:p>
            <a:br/>
            <a:pPr>
              <a:defRPr sz="1200"/>
            </a:pPr>
            <a:r>
              <a:t>원문 링크: https://news.google.com/rss/articles/CBMijAFBVV95cUxPS0pFZUZmQmlibnVRSTlvd3ZoQ1hVTWNrdkh0ckRyV1FPRUU1OVdSeEVUaGxIeEVlSnFaNU10cVpxZlRaNFYybDU3MzRCeVF2azdXUUxMQXI3MFRSbS03M0VrbEZYYnpaQnVwZW9DTzEtdElGZ0R6MlFjRTIzU0JJT1RhcFpBVVlDV2JWbg?oc=5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幺正量子完成数亿元A轮融资，四个月已融资两轮 - 投资界</a:t>
            </a:r>
          </a:p>
        </p:txBody>
      </p:sp>
      <p:sp>
        <p:nvSpPr>
          <p:cNvPr id="3" name="Content Placeholder 2"/>
          <p:cNvSpPr>
            <a:spLocks noGrp="1"/>
          </p:cNvSpPr>
          <p:nvPr>
            <p:ph idx="1"/>
          </p:nvPr>
        </p:nvSpPr>
        <p:spPr/>
        <p:txBody>
          <a:bodyPr/>
          <a:lstStyle/>
          <a:p/>
          <a:p>
            <a:pPr>
              <a:defRPr sz="1400"/>
            </a:pPr>
            <a:r>
              <a:t>발행일: 2026-08-03 02:28:00.000000</a:t>
            </a:r>
          </a:p>
          <a:p>
            <a:pPr>
              <a:defRPr sz="1400"/>
            </a:pPr>
            <a:r>
              <a:t>영향력 점수: 70.0</a:t>
            </a:r>
          </a:p>
          <a:p>
            <a:pPr>
              <a:defRPr sz="1400"/>
            </a:pPr>
            <a:r>
              <a:t>유망 산업군: EV</a:t>
            </a:r>
          </a:p>
          <a:p>
            <a:br/>
            <a:pPr>
              <a:defRPr b="1" sz="1600"/>
            </a:pPr>
            <a:r>
              <a:t>[요약]</a:t>
            </a:r>
          </a:p>
          <a:p>
            <a:pPr>
              <a:defRPr sz="1600"/>
            </a:pPr>
            <a:r>
              <a:t>&lt;a href="https://news.google.com/rss/articles/CBMiVkFVX3lxTFBCRTNscHdhSE9hLUwtMWJvZUsxcmJPVHYzelZXc3llZ2JWYkV5UnlnYnVnQUJxVXpEbDN6ZGxMVVBleVJyYmxrWGxRQ3ZiMC1XTjRVa0pn?oc=5" target="_blank"&gt;幺正量子完成数亿元A轮融资，四个月已融资两轮&lt;/a&gt;&amp;nbsp;&amp;nbsp;&lt;font color="#6f6f6f"&gt;投资界&lt;/font&gt;</a:t>
            </a:r>
          </a:p>
          <a:p>
            <a:br/>
            <a:pPr>
              <a:defRPr sz="1200"/>
            </a:pPr>
            <a:r>
              <a:t>원문 링크: https://news.google.com/rss/articles/CBMiVkFVX3lxTFBCRTNscHdhSE9hLUwtMWJvZUsxcmJPVHYzelZXc3llZ2JWYkV5UnlnYnVnQUJxVXpEbDN6ZGxMVVBleVJyYmxrWGxRQ3ZiMC1XTjRVa0pn?oc=5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The Simple Reason Mechanics Call Honda’s K-Series An Engineering Masterpiece - CarBuzz</a:t>
            </a:r>
          </a:p>
        </p:txBody>
      </p:sp>
      <p:sp>
        <p:nvSpPr>
          <p:cNvPr id="3" name="Content Placeholder 2"/>
          <p:cNvSpPr>
            <a:spLocks noGrp="1"/>
          </p:cNvSpPr>
          <p:nvPr>
            <p:ph idx="1"/>
          </p:nvPr>
        </p:nvSpPr>
        <p:spPr/>
        <p:txBody>
          <a:bodyPr/>
          <a:lstStyle/>
          <a:p/>
          <a:p>
            <a:pPr>
              <a:defRPr sz="1400"/>
            </a:pPr>
            <a:r>
              <a:t>발행일: 2026-08-02 22:07:14.000000</a:t>
            </a:r>
          </a:p>
          <a:p>
            <a:pPr>
              <a:defRPr sz="1400"/>
            </a:pPr>
            <a:r>
              <a:t>영향력 점수: 70.0</a:t>
            </a:r>
          </a:p>
          <a:p>
            <a:pPr>
              <a:defRPr sz="1400"/>
            </a:pPr>
            <a:r>
              <a:t>유망 산업군: EV</a:t>
            </a:r>
          </a:p>
          <a:p>
            <a:br/>
            <a:pPr>
              <a:defRPr b="1" sz="1600"/>
            </a:pPr>
            <a:r>
              <a:t>[요약]</a:t>
            </a:r>
          </a:p>
          <a:p>
            <a:pPr>
              <a:defRPr sz="1600"/>
            </a:pPr>
            <a:r>
              <a:t>&lt;a href="https://news.google.com/rss/articles/CBMifkFVX3lxTFBIYkl1WnRFU3ZibVltcElNcGhKSWJnaFhYT2hwQUxock5VNkgzMjdlTU9JUU9LWGQ5ZldvbVlaYWVlZ0h0S3pnbmdRWURWTjFnTlBTLV9DQVBJdnVkQzl6YmQzejVrUkxVVEViZUdTN3k5OHBicVFLUVcxU2psUQ?oc=5" target="_blank"&gt;The Simple Reason Mechanics Call Honda’s K-Series An Engineering Masterpiece&lt;/a&gt;&amp;nbsp;&amp;nbsp;&lt;font color="#6f6f6f"&gt;CarBuzz&lt;/font&gt;</a:t>
            </a:r>
          </a:p>
          <a:p>
            <a:br/>
            <a:pPr>
              <a:defRPr sz="1200"/>
            </a:pPr>
            <a:r>
              <a:t>원문 링크: https://news.google.com/rss/articles/CBMifkFVX3lxTFBIYkl1WnRFU3ZibVltcElNcGhKSWJnaFhYT2hwQUxock5VNkgzMjdlTU9JUU9LWGQ5ZldvbVlaYWVlZ0h0S3pnbmdRWURWTjFnTlBTLV9DQVBJdnVkQzl6YmQzejVrUkxVVEViZUdTN3k5OHBicVFLUVcxU2psUQ?oc=5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Stop graphing everything: When GraphRAG actually beats vector RAG</a:t>
            </a:r>
          </a:p>
        </p:txBody>
      </p:sp>
      <p:sp>
        <p:nvSpPr>
          <p:cNvPr id="3" name="Content Placeholder 2"/>
          <p:cNvSpPr>
            <a:spLocks noGrp="1"/>
          </p:cNvSpPr>
          <p:nvPr>
            <p:ph idx="1"/>
          </p:nvPr>
        </p:nvSpPr>
        <p:spPr/>
        <p:txBody>
          <a:bodyPr/>
          <a:lstStyle/>
          <a:p/>
          <a:p>
            <a:pPr>
              <a:defRPr sz="1400"/>
            </a:pPr>
            <a:r>
              <a:t>발행일: 2026-08-02 19:00:00.000000</a:t>
            </a:r>
          </a:p>
          <a:p>
            <a:pPr>
              <a:defRPr sz="1400"/>
            </a:pPr>
            <a:r>
              <a:t>영향력 점수: 70.0</a:t>
            </a:r>
          </a:p>
          <a:p>
            <a:pPr>
              <a:defRPr sz="1400"/>
            </a:pPr>
            <a:r>
              <a:t>유망 산업군: EV, AI, KI, IA</a:t>
            </a:r>
          </a:p>
          <a:p>
            <a:br/>
            <a:pPr>
              <a:defRPr b="1" sz="1600"/>
            </a:pPr>
            <a:r>
              <a:t>[요약]</a:t>
            </a:r>
          </a:p>
          <a:p>
            <a:pPr>
              <a:defRPr sz="1600"/>
            </a:pPr>
            <a:r>
              <a:t>&lt;p&gt;If you have built anything with &lt;a href="https://venturebeat.com/orchestration/the-cleanup-trap-stop-asking-rag-to-fix-bad-data?_gl=1*11in6e8*_up*MQ..*_ga*MTU3NzY5MzUzOS4xNzg1Njk1MzEy*_ga_SCH1J7LNKY*czE3ODU2OTUzMTEkbzEkZzAkdDE3ODU2OTUzMTEkajYwJGwwJGgyMDQ5NTU1MDM1*_ga_B8TDS1LEXQ*czE3ODU2OTUzMTEkbzEkZzAkdDE3ODU2OTUzMTEkajYwJGwwJGgxMTAwMzUxMjYx"&gt;retrieval-augmented generation&lt;/a&gt; (RAG) in the last two years, you have lived its central frustration: You chop your documents into chunks, embed them, retrieve the top few that look similar to the question, and hand them to the model. For “What was our Q3 refund policy?” This works beautifully. For “What are the recurring themes across two years of customer complaints?” it falls flat — because no single chunk &lt;i&gt;contains&lt;/i&gt; the answer.&lt;/p&gt;&lt;p&gt;The fashionable fix is &lt;b&gt;GraphRAG&lt;/b&gt;: Instead of feeding the model isolated snippets, you first build a knowledge graph of the entities and relationships in your corpus, then use that structure as context. The pitch is seductive. But seductive pitches deserve scrutiny, so I went through the evidence — the original &lt;a href="https://arxiv.org/abs/2404.16130"&gt;Microsoft paper&lt;/a&gt; plus four independent &lt;a href="https://arxiv.org/abs/2506.05690"&gt;benchmark studies&lt;/a&gt; — to answer a simple question: When you swap text chunks for a context graph, do answers actually get better?&lt;/p&gt;&lt;p&gt;The short version: Yes, substantially — but only for the right kind of question, and not for free. Let me show you the receipts.&lt;/p&gt;&lt;h2&gt;&lt;b&gt;Why text chunks hit a wall&lt;/b&gt;&lt;/h2&gt;&lt;p&gt;Standard &lt;a href="https://venturebeat.com/security/prompt-injection-is-exploiting-enterprise-ais-biggest-design-flaws-by-targeting-agents-rag-pipelines-and-model-routers"&gt;vector RAG&lt;/a&gt; retrieves the &lt;i&gt;k&lt;/i&gt; passages most similar to your query. That design has three structural blind spots:&lt;/p&gt;&lt;ul&gt;&lt;li&gt;&lt;p&gt;&lt;b&gt;It can’t connect the dots.&lt;/b&gt; When an answer requires joining facts that live in different passages through a shared entity, chunks embedded in isolation never reveal the link.&lt;/p&gt;&lt;/li&gt;&lt;li&gt;&lt;p&gt;&lt;b&gt;It’s blind to global questions.&lt;/b&gt; “What are the main themes?” needs the &lt;i&gt;whole&lt;/i&gt; corpus, but similarity search only returns the handful of chunks that superficially resemble the question.&lt;/p&gt;&lt;/li&gt;&lt;li&gt;&lt;p&gt;&lt;b&gt;It severs context at chunk boundaries.&lt;/b&gt; The relationships and hierarchy that complex reasoning depends on are exactly what chunking throws away.&lt;/p&gt;&lt;/li&gt;&lt;/ul&gt;&lt;p&gt;&lt;a href="https://www.microsoft.com/en-us/research/blog/graphrag-new-tool-for-complex-data-discovery-now-on-github/"&gt;Microsoft Research&lt;/a&gt; framed this crisply when they introduced GraphRAG: Baseline RAG “struggles to connect the dots” and performs poorly when asked to “holistically understand summarized semantic concepts over large data collections.”&lt;/p&gt;&lt;h2&gt;&lt;b&gt;What a context graph changes&lt;/b&gt;&lt;/h2&gt;&lt;p&gt;GraphRAG attacks the problem before any question is asked. During indexing, a large language model (LLM) reads every chunk and extracts entities, relationships, and claims, assembling them into a weighted knowledge graph. It then runs community detection (the &lt;a href="https://www.nature.com/articles/s41598-019-41695-z"&gt;Leiden algorithm&lt;/a&gt;) to cluster the graph into a hierarchy of related topics, and pre-writes a natural-language summary for each community.&lt;/p&gt;&lt;p&gt;At query time, those summaries do the heavy lifting. Each relevant community drafts a partial answer (the “map” step), the partials are ranked and merged (the “reduce” step), and the model synthesizes a final response grounded in structure rather than in a few cherry-picked snippets. Variants like &lt;a href="https://arxiv.org/abs/2405.14831"&gt;HippoRAG&lt;/a&gt; take a different route, using the graph plus a Personalized PageRank walk to &lt;i&gt;find&lt;/i&gt; the right passages — but the core idea is the same: Let relationships, not just cosine similarity, decide what context the model sees.&lt;/p&gt;&lt;h2&gt;&lt;b&gt;The evidence: Four studies, one pattern&lt;/b&gt;&lt;/h2&gt;&lt;h3&gt;&lt;b&gt;1. Global sense making: The headline win&lt;/b&gt;&lt;/h3&gt;&lt;p&gt;Microsoft pitted GraphRAG head-to-head against naïve RAG on global, “make sense of the whole corpus” questions over million-token datasets, with an LLM acting as judge across three axes: Comprehensiveness, diversity, and empowerment.&lt;/p&gt;&lt;p&gt;GraphRAG won 72 to 83% of comprehensiveness comparisons and 62 to 82% of diversity comparisons against &lt;a href="https://venturebeat.com/orchestration/architectural-patterns-for-graph-enhanced-rag-moving-beyond-vector-search-in-production"&gt;vector RAG&lt;/a&gt;. Its highest-level summaries used up to 97% fewer tokens than processing the source text directly.&lt;/p&gt;&lt;p&gt;That is not a rounding-error improvement. On exactly the kind of question that breaks text-chunk RAG, the graph wins two out of three times or better.&lt;/p&gt;&lt;h3&gt;&lt;b&gt;2. Multi-hop retrieval: The graph finds what chunks miss&lt;/b&gt;&lt;/h3&gt;&lt;p&gt;The second piece of evidence is about retrieval quality: Does the right supporting passage even make it into the top results? On the standard multi-hop QA benchmarks (MuSiQue, HotpotQA, 2WikiMultiHopQA), graph-guided retrieval lifts Recall@5 dramatically:&lt;/p&gt;&lt;ul&gt;&lt;li&gt;&lt;p&gt;Average Recall@5 climbs from &lt;b&gt;73.4% (naïve RAG) to 87.8% (graph-guided),&lt;/b&gt; a &lt;b&gt;+19.6 point&lt;/b&gt; gain.&lt;/p&gt;&lt;/li&gt;&lt;li&gt;&lt;p&gt;The biggest jumps come on the hardest, cross-document sets: &lt;b&gt;+31 points on MuSiQue&lt;/b&gt; and &lt;b&gt;+28 points on 2Wiki&lt;/b&gt;.&lt;/p&gt;&lt;/li&gt;&lt;li&gt;&lt;p&gt;HippoRAG reports up to a &lt;b&gt;20% accuracy improvement&lt;/b&gt; on multi-hop QA, at &lt;b&gt;10–20× lower cost and 6–13× faster&lt;/b&gt; than iterative retrieval methods.&lt;/p&gt;&lt;/li&gt;&lt;/ul&gt;&lt;h3&gt;&lt;b&gt;3. The controlled head-to-head - where it gets honest&lt;/b&gt;&lt;/h3&gt;&lt;p&gt;Here is where the story gains nuance. A &lt;a href="https://arxiv.org/abs/2502.11371"&gt;2025 study&lt;/a&gt; from Michigan State and Meta ran RAG against four GraphRAG families under one unified protocol — identical chunking, embeddings, and generation — and found no single winner. The two approaches are complementary:&lt;/p&gt;&lt;ul&gt;&lt;li&gt;&lt;p&gt;On single-hop, factual lookup (natural questions), plain RAG edged ahead (F1 64.8 vs. 63.0 for the best graph method).&lt;/p&gt;&lt;/li&gt;&lt;li&gt;&lt;p&gt;On multi-hop reasoning (MultiHop-RAG), graph-guided retrieval pulled in front (70.3 vs. 67.0 overall accuracy).&lt;/p&gt;&lt;/li&gt;&lt;/ul&gt;&lt;p&gt;The lesson: A context graph is not a universal upgrade. It is a specialized one that pays off precisely when questions demand reasoning across pieces.&lt;/p&gt;&lt;h3&gt;&lt;b&gt;4. When to use graphs: The task-type verdict&lt;/b&gt;&lt;/h3&gt;&lt;p&gt;The most recent benchmark, &lt;a href="https://github.com/GraphRAG-Bench/GraphRAG-Benchmark"&gt;GraphRAG-Bench&lt;/a&gt; (ICLR 2026), set out to answer “In which scenarios do graph structures provide measurable benefits?” Its accuracy-by-task numbers map the boundary cleanly:&lt;/p&gt;&lt;ul&gt;&lt;li&gt;&lt;p&gt;&lt;b&gt;Simple fact retrieval:&lt;/b&gt; Text chunks 60.9 vs. graph 60.1 — effectively a tie. The graph’s structure is overhead the query doesn’t need.&lt;/p&gt;&lt;/li&gt;&lt;li&gt;&lt;p&gt;&lt;b&gt;Complex reasoning:&lt;/b&gt; Graph 53.4 vs. chunks 42.9 — a &lt;b&gt;+10 point&lt;/b&gt; graph win.&lt;/p&gt;&lt;/li&gt;&lt;li&gt;&lt;p&gt;&lt;b&gt;Contextual summarization:&lt;/b&gt; Graph 64.4 vs. chunks 51.3 — a &lt;b&gt;+13 point&lt;/b&gt; graph win.&lt;/p&gt;&lt;/li&gt;&lt;/ul&gt;&lt;h2&gt;&lt;b&gt;The scorecard&lt;/b&gt;&lt;/h2&gt;&lt;p&gt;Read top to bottom, the pattern is unmistakable: The graph’s advantage grows with the reasoning depth of the question, while text chunks hold their ground on isolated facts.&lt;/p&gt;&lt;h2&gt;&lt;b&gt;The catch: Cost and the LLM-judge problem&lt;/b&gt;&lt;/h2&gt;&lt;p&gt;Two caveats keep this from being a slam dunk, and ignoring them is how teams end up disappointed.&lt;/p&gt;&lt;p&gt;&lt;b&gt;Building the graph is expensive.&lt;/b&gt; Having an LLM extract entities and relationships from an entire corpus isn’t cheap. One analysis put index construction at roughly $48 against GPT-4o for a moderate corpus, far above a vanilla vector index. (Microsoft’s own follow-up, LazyGraphRAG, defers extraction to query time and cuts that to around 0.1% of the cost - a tacit admission that the original budget is impractical for many deployments.)&lt;/p&gt;&lt;p&gt;&lt;b&gt;Many of the wins are judged by another LLM — and &lt;/b&gt;&lt;a href=""&gt;&lt;b&gt;LLM judges&lt;/b&gt;&lt;/a&gt;&lt;b&gt; are biased.&lt;/b&gt; An independent audit found systematic flaws in this evaluation style: &lt;b&gt;position bias&lt;/b&gt; (swapping which answer appears first can swing the win-rate by more than 30 points), &lt;b&gt;length bias&lt;/b&gt;, and &lt;b&gt;trial bias&lt;/b&gt; (identical comparisons disagree across runs). After correction, one popular method’s reported 66.7% win rate fell to about &lt;b&gt;39%&lt;/b&gt; — below the 50% break-even line.&lt;/p&gt;&lt;p&gt;The takeaway is not “the research is wrong.” It is that the large gains — the +20% multi-hop accuracy, the +15-to-30-point recall jumps — are robust, while narrow comprehensiveness margins deserve a skeptical second look with reference-based metrics.&lt;/p&gt;&lt;h2&gt;&lt;b&gt;So when should you reach for a context graph?&lt;/b&gt;&lt;/h2&gt;&lt;p&gt;Strip away the hype and the decision is refreshingly practical.&lt;/p&gt;&lt;p&gt;&lt;b&gt;Use a context graph when:&lt;/b&gt; Your questions are multi-hop, global, or sensemaking in nature; you need comprehensive, multi-perspective answers; and your corpus is richly interconnected (research libraries, case files, incident histories, knowledge bases).&lt;/p&gt;&lt;p&gt;&lt;b&gt;Stick with text chunks when:&lt;/b&gt; Your queries are mostly single-fact lookups; your corpus is small or flat; and indexing cost, latency, and operational simplicity outweigh a marginal quality bump.&lt;/p&gt;&lt;p&gt;&lt;b&gt;Best of all, go hybrid: &lt;/b&gt;The systematic studies converge on the same recommendation: route each query to the right method, or fuse evidence from both. Combining graph and chunk retrieval consistently beats either one alone. You don’t have to choose a religion; you have to build a router.&lt;/p&gt;&lt;h2&gt;&lt;b&gt;The bottom line&lt;/b&gt;&lt;/h2&gt;&lt;p&gt;A context graph is not magic, and it is not snake oil. It is a targeted instrument. Hand it a question that requires connecting scattered facts or synthesizing a whole corpus, and it will outperform text chunks decisively. Hand it “what’s the phone number on page 3,” and you’ve paid for indexing you didn’t need.&lt;/p&gt;&lt;p&gt;The teams that win with GraphRAG in 2026 won’t be the ones who graph everything. They’ll be the ones who know which questions deserve a graph — and build pipelines smart enough to tell the difference.&lt;/p&gt;&lt;p&gt;&lt;i&gt;Dattaraj Rao&lt;/i&gt;&lt;i&gt; is an R&amp;amp;D architect at Persistent Systems &lt;/i&gt;&lt;/p&gt;</a:t>
            </a:r>
          </a:p>
          <a:p>
            <a:br/>
            <a:pPr>
              <a:defRPr sz="1200"/>
            </a:pPr>
            <a:r>
              <a:t>원문 링크: https://venturebeat.com/orchestration/stop-graphing-everything-when-graphrag-actually-beats-vector-rag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Lydian Raises $43 Million Series A Led By Breakthrough Energy Ventures - Pulse 2.0</a:t>
            </a:r>
          </a:p>
        </p:txBody>
      </p:sp>
      <p:sp>
        <p:nvSpPr>
          <p:cNvPr id="3" name="Content Placeholder 2"/>
          <p:cNvSpPr>
            <a:spLocks noGrp="1"/>
          </p:cNvSpPr>
          <p:nvPr>
            <p:ph idx="1"/>
          </p:nvPr>
        </p:nvSpPr>
        <p:spPr/>
        <p:txBody>
          <a:bodyPr/>
          <a:lstStyle/>
          <a:p/>
          <a:p>
            <a:pPr>
              <a:defRPr sz="1400"/>
            </a:pPr>
            <a:r>
              <a:t>발행일: 2026-08-02 18:38:09.000000</a:t>
            </a:r>
          </a:p>
          <a:p>
            <a:pPr>
              <a:defRPr sz="1400"/>
            </a:pPr>
            <a:r>
              <a:t>영향력 점수: 70.0</a:t>
            </a:r>
          </a:p>
          <a:p>
            <a:pPr>
              <a:defRPr sz="1400"/>
            </a:pPr>
            <a:r>
              <a:t>유망 산업군: AI, IA</a:t>
            </a:r>
          </a:p>
          <a:p>
            <a:br/>
            <a:pPr>
              <a:defRPr b="1" sz="1600"/>
            </a:pPr>
            <a:r>
              <a:t>[요약]</a:t>
            </a:r>
          </a:p>
          <a:p>
            <a:pPr>
              <a:defRPr sz="1600"/>
            </a:pPr>
            <a:r>
              <a:t>&lt;a href="https://news.google.com/rss/articles/CBMikwFBVV95cUxPWF9lWE9ZQXBxS21uRnZoSklXd0NpaUFsUFUwT3pJYXFNUmJ5OG5wMnRaQm0zMm42SkZlQTFoNk1aWUdFZ2s3M3NDemh0V2ZjMHBqMzZBYmJlUnlRNkxmbWNUUEhVZVI5cWdJN0M3amdxYjFPejdmWGNhanpSODl5RjZGb0xNSVRRdkoySHJyMU01bWPSAZgBQVVfeXFMT1BDZHI0TG9qVTZOLVF4WGFpcVRnNlFsS3FIbzRWOURyd1cyOEtCMmJGWGh0U2FUc05jbFBRUkZ4WE1KRF9YVkJrQlNGanFxdVZMNkdLR0Z0TERuaVhUUExYd2Z1RjM2TWoxcGctOGxZdHlYZ0RYN0JwMkN6VHBoQVFTdUJibTZOSTJJUXN6MlhnWWZkYXI0bVc?oc=5" target="_blank"&gt;Lydian Raises $43 Million Series A Led By Breakthrough Energy Ventures&lt;/a&gt;&amp;nbsp;&amp;nbsp;&lt;font color="#6f6f6f"&gt;Pulse 2.0&lt;/font&gt;</a:t>
            </a:r>
          </a:p>
          <a:p>
            <a:br/>
            <a:pPr>
              <a:defRPr sz="1200"/>
            </a:pPr>
            <a:r>
              <a:t>원문 링크: https://news.google.com/rss/articles/CBMikwFBVV95cUxPWF9lWE9ZQXBxS21uRnZoSklXd0NpaUFsUFUwT3pJYXFNUmJ5OG5wMnRaQm0zMm42SkZlQTFoNk1aWUdFZ2s3M3NDemh0V2ZjMHBqMzZBYmJlUnlRNkxmbWNUUEhVZVI5cWdJN0M3amdxYjFPejdmWGNhanpSODl5RjZGb0xNSVRRdkoySHJyMU01bWPSAZgBQVVfeXFMT1BDZHI0TG9qVTZOLVF4WGFpcVRnNlFsS3FIbzRWOURyd1cyOEtCMmJGWGh0U2FUc05jbFBRUkZ4WE1KRF9YVkJrQlNGanFxdVZMNkdLR0Z0TERuaVhUUExYd2Z1RjM2TWoxcGctOGxZdHlYZ0RYN0JwMkN6VHBoQVFTdUJibTZOSTJJUXN6MlhnWWZkYXI0bVc?oc=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The Farmer Companies Raises $17 Million Series A And Names Randy Johnson CEO - Pulse 2.0</a:t>
            </a:r>
          </a:p>
        </p:txBody>
      </p:sp>
      <p:sp>
        <p:nvSpPr>
          <p:cNvPr id="3" name="Content Placeholder 2"/>
          <p:cNvSpPr>
            <a:spLocks noGrp="1"/>
          </p:cNvSpPr>
          <p:nvPr>
            <p:ph idx="1"/>
          </p:nvPr>
        </p:nvSpPr>
        <p:spPr/>
        <p:txBody>
          <a:bodyPr/>
          <a:lstStyle/>
          <a:p/>
          <a:p>
            <a:pPr>
              <a:defRPr sz="1400"/>
            </a:pPr>
            <a:r>
              <a:t>발행일: 2026-08-02 18:04:21.000000</a:t>
            </a:r>
          </a:p>
          <a:p>
            <a:pPr>
              <a:defRPr sz="1400"/>
            </a:pPr>
            <a:r>
              <a:t>영향력 점수: 70.0</a:t>
            </a:r>
          </a:p>
          <a:p>
            <a:pPr>
              <a:defRPr sz="1400"/>
            </a:pPr>
            <a:r>
              <a:t>유망 산업군: AI</a:t>
            </a:r>
          </a:p>
          <a:p>
            <a:br/>
            <a:pPr>
              <a:defRPr b="1" sz="1600"/>
            </a:pPr>
            <a:r>
              <a:t>[요약]</a:t>
            </a:r>
          </a:p>
          <a:p>
            <a:pPr>
              <a:defRPr sz="1600"/>
            </a:pPr>
            <a:r>
              <a:t>&lt;a href="https://news.google.com/rss/articles/CBMimwFBVV95cUxPQUpFelNlbENGZUtMakFHUUM5WmxYdDJHN2I0Q19yZXpJV3pUZkpyRXpyYU1sZ0FhVVBpVTZjQ1dkdi1wRTZsdDRXLUZabmVzMlgyOENhWElBQ1paRHB0LXJ2WXNMbmtGaGlIQ1NuQVhwbENxNnY1NHJoaF9Id1JIc2RXYnBIRXRMc0Jta254Ukh4cDFUeXc2Wm1ZMNIBoAFBVV95cUxObE9VSEtfSFRoWDVGdXdaYTZXZWgxdEpFNU03VXhkLUZrUWdjdnY5bUl5Z1I5aXpCVEFxRzR1RnYweTlPMmhIY1FBRVJTdW8xMnNaYm1VRWpfeXFQaVR0RFBhWEFEalIyOVBCMDRJaXhVYThFVTE3enMwSUVnZ1EyQzIzaURkRktZaGdGSGpVdUxvRWU5MlJSVXgzVjNDd0hB?oc=5" target="_blank"&gt;The Farmer Companies Raises $17 Million Series A And Names Randy Johnson CEO&lt;/a&gt;&amp;nbsp;&amp;nbsp;&lt;font color="#6f6f6f"&gt;Pulse 2.0&lt;/font&gt;</a:t>
            </a:r>
          </a:p>
          <a:p>
            <a:br/>
            <a:pPr>
              <a:defRPr sz="1200"/>
            </a:pPr>
            <a:r>
              <a:t>원문 링크: https://news.google.com/rss/articles/CBMimwFBVV95cUxPQUpFelNlbENGZUtMakFHUUM5WmxYdDJHN2I0Q19yZXpJV3pUZkpyRXpyYU1sZ0FhVVBpVTZjQ1dkdi1wRTZsdDRXLUZabmVzMlgyOENhWElBQ1paRHB0LXJ2WXNMbmtGaGlIQ1NuQVhwbENxNnY1NHJoaF9Id1JIc2RXYnBIRXRMc0Jta254Ukh4cDFUeXc2Wm1ZMNIBoAFBVV95cUxObE9VSEtfSFRoWDVGdXdaYTZXZWgxdEpFNU03VXhkLUZrUWdjdnY5bUl5Z1I5aXpCVEFxRzR1RnYweTlPMmhIY1FBRVJTdW8xMnNaYm1VRWpfeXFQaVR0RFBhWEFEalIyOVBCMDRJaXhVYThFVTE3enMwSUVnZ1EyQzIzaURkRktZaGdGSGpVdUxvRWU5MlJSVXgzVjNDd0hB?oc=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RECIT - Bruno Solo raconte Caméra Café : ’’L’arrêt de la série a vraiment été un pincement au coeur’’ - Gala</a:t>
            </a:r>
          </a:p>
        </p:txBody>
      </p:sp>
      <p:sp>
        <p:nvSpPr>
          <p:cNvPr id="3" name="Content Placeholder 2"/>
          <p:cNvSpPr>
            <a:spLocks noGrp="1"/>
          </p:cNvSpPr>
          <p:nvPr>
            <p:ph idx="1"/>
          </p:nvPr>
        </p:nvSpPr>
        <p:spPr/>
        <p:txBody>
          <a:bodyPr/>
          <a:lstStyle/>
          <a:p/>
          <a:p>
            <a:pPr>
              <a:defRPr sz="1400"/>
            </a:pPr>
            <a:r>
              <a:t>발행일: 2026-08-02 14:03:00.000000</a:t>
            </a:r>
          </a:p>
          <a:p>
            <a:pPr>
              <a:defRPr sz="1400"/>
            </a:pPr>
            <a:r>
              <a:t>영향력 점수: 70.0</a:t>
            </a:r>
          </a:p>
          <a:p>
            <a:pPr>
              <a:defRPr sz="1400"/>
            </a:pPr>
            <a:r>
              <a:t>유망 산업군: EV, AI</a:t>
            </a:r>
          </a:p>
          <a:p>
            <a:br/>
            <a:pPr>
              <a:defRPr b="1" sz="1600"/>
            </a:pPr>
            <a:r>
              <a:t>[요약]</a:t>
            </a:r>
          </a:p>
          <a:p>
            <a:pPr>
              <a:defRPr sz="1600"/>
            </a:pPr>
            <a:r>
              <a:t>&lt;a href="https://news.google.com/rss/articles/CBMi2AFBVV95cUxQQi1tVVpBdjJhdk9OWHFNTklLeVZ3TllUUkZ0X1p4cTB4NXFGNEdndE9vTVpIUDJELTNLb1ZGNkljbElGOVMxMkFXUzFzZHBBOGJqX2Y5bWsxMm9LRjBKTGdkRkQ2amZrV1FzcmU3Ulljd3BjSjMwNVJ4VDdOUC1iSFNvRFN0eE9NdmVlblZFRGg2aGZheFVnWHk5blNUdy1TTnE5RTllWTU5cU9pclhBWDFRUlVoMHY1RVI3NzBtcXd0WW1pdnZRM09fcmJ5dHMxU2o4alhaYTQ?oc=5" target="_blank"&gt;RECIT - Bruno Solo raconte Caméra Café : ’’L’arrêt de la série a vraiment été un pincement au coeur’’&lt;/a&gt;&amp;nbsp;&amp;nbsp;&lt;font color="#6f6f6f"&gt;Gala&lt;/font&gt;</a:t>
            </a:r>
          </a:p>
          <a:p>
            <a:br/>
            <a:pPr>
              <a:defRPr sz="1200"/>
            </a:pPr>
            <a:r>
              <a:t>원문 링크: https://news.google.com/rss/articles/CBMi2AFBVV95cUxQQi1tVVpBdjJhdk9OWHFNTklLeVZ3TllUUkZ0X1p4cTB4NXFGNEdndE9vTVpIUDJELTNLb1ZGNkljbElGOVMxMkFXUzFzZHBBOGJqX2Y5bWsxMm9LRjBKTGdkRkQ2amZrV1FzcmU3Ulljd3BjSjMwNVJ4VDdOUC1iSFNvRFN0eE9NdmVlblZFRGg2aGZheFVnWHk5blNUdy1TTnE5RTllWTU5cU9pclhBWDFRUlVoMHY1RVI3NzBtcXd0WW1pdnZRM09fcmJ5dHMxU2o4alhaYTQ?oc=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Ellis Raises More Than $10 Million In Seed Funding Led By First Round Capital - Pulse 2.0</a:t>
            </a:r>
          </a:p>
        </p:txBody>
      </p:sp>
      <p:sp>
        <p:nvSpPr>
          <p:cNvPr id="3" name="Content Placeholder 2"/>
          <p:cNvSpPr>
            <a:spLocks noGrp="1"/>
          </p:cNvSpPr>
          <p:nvPr>
            <p:ph idx="1"/>
          </p:nvPr>
        </p:nvSpPr>
        <p:spPr/>
        <p:txBody>
          <a:bodyPr/>
          <a:lstStyle/>
          <a:p/>
          <a:p>
            <a:pPr>
              <a:defRPr sz="1400"/>
            </a:pPr>
            <a:r>
              <a:t>발행일: 2026-08-02 13:34:04.000000</a:t>
            </a:r>
          </a:p>
          <a:p>
            <a:pPr>
              <a:defRPr sz="1400"/>
            </a:pPr>
            <a:r>
              <a:t>영향력 점수: 70.0</a:t>
            </a:r>
          </a:p>
          <a:p>
            <a:pPr>
              <a:defRPr sz="1400"/>
            </a:pPr>
            <a:r>
              <a:t>유망 산업군: EV, AI</a:t>
            </a:r>
          </a:p>
          <a:p>
            <a:br/>
            <a:pPr>
              <a:defRPr b="1" sz="1600"/>
            </a:pPr>
            <a:r>
              <a:t>[요약]</a:t>
            </a:r>
          </a:p>
          <a:p>
            <a:pPr>
              <a:defRPr sz="1600"/>
            </a:pPr>
            <a:r>
              <a:t>&lt;a href="https://news.google.com/rss/articles/CBMinAFBVV95cUxNeWt1RExTUk53LXBKYjlXRTlBUmRPNEJPcGY5eWNXanFyZ19JQ1ZadUZBTUJNbVg2X21CN0Q0bEcwXy1zekJrMlVwWXlmZHNPM2Fzcmw4OE1mWkVTUWMteEthdmptYlZkdk5BeVpncHhfNDl5TTZmMlRQcGlIYjNjZW1FRmF3TWxnZk9BT0oyZnJNZF9FZ2RmTG1WUGfSAaIBQVVfeXFMTWFCLWd5TGtvanRIU29OOUhRdHdfajVBX3JlTnFQUHRjUDd5M185ajRmZWVEUkZVSXdpRUVza2FJOFlWbmp2T3pHUVJzVVFDTDNZZk9pRGwwaS1mSGlJeVRZQjJabzRkeUEtSmN3ZVBnU2VRSkhiVmZrRkg3MThaejhONXJUZ3hEWUVmdHg4LV9GYW9uY0NLU0Rockp3dTNzSkRR?oc=5" target="_blank"&gt;Ellis Raises More Than $10 Million In Seed Funding Led By First Round Capital&lt;/a&gt;&amp;nbsp;&amp;nbsp;&lt;font color="#6f6f6f"&gt;Pulse 2.0&lt;/font&gt;</a:t>
            </a:r>
          </a:p>
          <a:p>
            <a:br/>
            <a:pPr>
              <a:defRPr sz="1200"/>
            </a:pPr>
            <a:r>
              <a:t>원문 링크: https://news.google.com/rss/articles/CBMinAFBVV95cUxNeWt1RExTUk53LXBKYjlXRTlBUmRPNEJPcGY5eWNXanFyZ19JQ1ZadUZBTUJNbVg2X21CN0Q0bEcwXy1zekJrMlVwWXlmZHNPM2Fzcmw4OE1mWkVTUWMteEthdmptYlZkdk5BeVpncHhfNDl5TTZmMlRQcGlIYjNjZW1FRmF3TWxnZk9BT0oyZnJNZF9FZ2RmTG1WUGfSAaIBQVVfeXFMTWFCLWd5TGtvanRIU29OOUhRdHdfajVBX3JlTnFQUHRjUDd5M185ajRmZWVEUkZVSXdpRUVza2FJOFlWbmp2T3pHUVJzVVFDTDNZZk9pRGwwaS1mSGlJeVRZQjJabzRkeUEtSmN3ZVBnU2VRSkhiVmZrRkg3MThaejhONXJUZ3hEWUVmdHg4LV9GYW9uY0NLU0Rockp3dTNzSkRR?oc=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Hautes-Alpes. Les conséquences de l'incendie des Écrins sur le tournage de la série Alex Hugo : « On a dû modifier notre planning initial » - Le Dauphiné Libéré</a:t>
            </a:r>
          </a:p>
        </p:txBody>
      </p:sp>
      <p:sp>
        <p:nvSpPr>
          <p:cNvPr id="3" name="Content Placeholder 2"/>
          <p:cNvSpPr>
            <a:spLocks noGrp="1"/>
          </p:cNvSpPr>
          <p:nvPr>
            <p:ph idx="1"/>
          </p:nvPr>
        </p:nvSpPr>
        <p:spPr/>
        <p:txBody>
          <a:bodyPr/>
          <a:lstStyle/>
          <a:p/>
          <a:p>
            <a:pPr>
              <a:defRPr sz="1400"/>
            </a:pPr>
            <a:r>
              <a:t>발행일: 2026-08-02 03:34:22.000000</a:t>
            </a:r>
          </a:p>
          <a:p>
            <a:pPr>
              <a:defRPr sz="1400"/>
            </a:pPr>
            <a:r>
              <a:t>영향력 점수: 70.0</a:t>
            </a:r>
          </a:p>
          <a:p>
            <a:pPr>
              <a:defRPr sz="1400"/>
            </a:pPr>
            <a:r>
              <a:t>유망 산업군: EV, IA</a:t>
            </a:r>
          </a:p>
          <a:p>
            <a:br/>
            <a:pPr>
              <a:defRPr b="1" sz="1600"/>
            </a:pPr>
            <a:r>
              <a:t>[요약]</a:t>
            </a:r>
          </a:p>
          <a:p>
            <a:pPr>
              <a:defRPr sz="1600"/>
            </a:pPr>
            <a:r>
              <a:t>&lt;a href="https://news.google.com/rss/articles/CBMi-AFBVV95cUxOaDZ0RlpBSXk4ckM2MkxxeHRfX2t6NVVGbmtveWNGenZEMGtsb1JXUkpoT2lWTzRBcHZZU2Uwa0FEcEtiVGxPOUNmbm02RUgtR1dwUENBUVFIclM2cVd2QXlrUXJNTW4xcnZMVnN6aE5nRTNoQ2JzWEk0QnQweVRFcVNxOFM5cXJDNGJybG5yX0lOYUVjSElSRnZzcktZdHN1ZDJ4UGQySHFHRmQ2SUVIdDVYRmRBTE0wNXF1SXVtS2pWWFRZTUNoZ2xqRmJsdVRjUUtQYnMxZ0FSbDV4Q0NCRU1kbzlTSTk1RkFwSmNqRkFlZ3FhN3Rfcw?oc=5" target="_blank"&gt;Hautes-Alpes. Les conséquences de l'incendie des Écrins sur le tournage de la série Alex Hugo : « On a dû modifier notre planning initial »&lt;/a&gt;&amp;nbsp;&amp;nbsp;&lt;font color="#6f6f6f"&gt;Le Dauphiné Libéré&lt;/font&gt;</a:t>
            </a:r>
          </a:p>
          <a:p>
            <a:br/>
            <a:pPr>
              <a:defRPr sz="1200"/>
            </a:pPr>
            <a:r>
              <a:t>원문 링크: https://news.google.com/rss/articles/CBMi-AFBVV95cUxOaDZ0RlpBSXk4ckM2MkxxeHRfX2t6NVVGbmtveWNGenZEMGtsb1JXUkpoT2lWTzRBcHZZU2Uwa0FEcEtiVGxPOUNmbm02RUgtR1dwUENBUVFIclM2cVd2QXlrUXJNTW4xcnZMVnN6aE5nRTNoQ2JzWEk0QnQweVRFcVNxOFM5cXJDNGJybG5yX0lOYUVjSElSRnZzcktZdHN1ZDJ4UGQySHFHRmQ2SUVIdDVYRmRBTE0wNXF1SXVtS2pWWFRZTUNoZ2xqRmJsdVRjUUtQYnMxZ0FSbDV4Q0NCRU1kbzlTSTk1RkFwSmNqRkFlZ3FhN3Rfcw?oc=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光邮星空连续完成Pre-A和Pre-A+轮融资|中关村|星座|导航|资本|资金_手机新浪网 - 新浪财经</a:t>
            </a:r>
          </a:p>
        </p:txBody>
      </p:sp>
      <p:sp>
        <p:nvSpPr>
          <p:cNvPr id="3" name="Content Placeholder 2"/>
          <p:cNvSpPr>
            <a:spLocks noGrp="1"/>
          </p:cNvSpPr>
          <p:nvPr>
            <p:ph idx="1"/>
          </p:nvPr>
        </p:nvSpPr>
        <p:spPr/>
        <p:txBody>
          <a:bodyPr/>
          <a:lstStyle/>
          <a:p/>
          <a:p>
            <a:pPr>
              <a:defRPr sz="1400"/>
            </a:pPr>
            <a:r>
              <a:t>발행일: 2026-08-01 19:17:47.000000</a:t>
            </a:r>
          </a:p>
          <a:p>
            <a:pPr>
              <a:defRPr sz="1400"/>
            </a:pPr>
            <a:r>
              <a:t>영향력 점수: 70.0</a:t>
            </a:r>
          </a:p>
          <a:p>
            <a:pPr>
              <a:defRPr sz="1400"/>
            </a:pPr>
            <a:r>
              <a:t>유망 산업군: EV, IA</a:t>
            </a:r>
          </a:p>
          <a:p>
            <a:br/>
            <a:pPr>
              <a:defRPr b="1" sz="1600"/>
            </a:pPr>
            <a:r>
              <a:t>[요약]</a:t>
            </a:r>
          </a:p>
          <a:p>
            <a:pPr>
              <a:defRPr sz="1600"/>
            </a:pPr>
            <a:r>
              <a:t>&lt;a href="https://news.google.com/rss/articles/CBMi-ApBVV95cUxNZUQ4YV9oSHBPWFQ0NGJwSDA2blUzMC1YOU5CZGlReXRJUmVwS2thRGxpQnZYb1ZNcjMxajZReC1LSXZDaV9mQUFyVGw4MFJzZ2YwVHVmUi15eVlLS0czX0tJMFhualVHNU95QzhTa2pQdWdCT0tBaGFWTkc3QlJaemlnZXFZX3pHTlNpWXNtclVpZ1ZmUnhueUI1a293NDloWS1mbUpCVW9SWnprZW5OWUdGXzd0d1V5WEwwekhFaUpJMzNfbTdtbzgteGlXWk4wZlBwSXF2YVFJRUZRWExISzRCNUZZWko1NHJ4N0w5WU9kRXVEQVBacnNUX2JkNWdIQUdqbVV0R3NDalZnWF9mVlBIYS1mMXZkbGhzX1BMdzdFckVnSnNLNXdCQXVLZk5VZzRVZVFtTHdtRGhBT08xX055UWU1Yi1hcUllRzFPVzdzOUNTOWJ0RGdkb0dSdUxRMlhlblJzaTdZUWVhV3AzbGExRjN2dENPWTVYTUQzMW1yNk5CZFlhTF9KbHZYTlB1VWNydnZlVXAwcVJVMkotcldiMVFWSTZEOWhZUU85TmREQmNwUTcwWTRaMVNBemxoclFvbmY2T0VXM2RoOWo5OHplOG9hV2ctNGp5b1pWeEduT2hoMkRvTWxwT3hYQWV1aUlmX0ZiLWtlOG1YdjhEbVJmT050WFJwTUVURW81Y3ZTZHEyelNEdWxHc0dSc0pPejlXUE5YUnRLcl9NaDVIVExEazdpcE5XSnpUelJnSEpROFVUTVpNYTNFMWdaOXZOZWZNamlTWHJIVjVyZGFEcEwzeC13b0t2aVhROTlsdUJHaWlBMVRwenBjQU91OGpURW1aZl9HYnREMUI1OEgwbjBoV2theUgwa0ZxSjVIVmM5eXFhbTIzWVI4amUwT1ZpVl90RWtIN3hHaVV0RERNRWhPS2E0ZkNzTUxIdVhpZ0RUMFpOSEZHUzhrZWdGT09oTTF0THNfbm8tRDhFZHNIc3BvNWVrQlotUk52S3NJYzZqVWRqRHhHSmRReUxIS3I0LVhzd3pnU09EaVNndHJRM0FPQTc4TV91N2R6Uk9SX1BHTHlYaXFsV2Y3WGdDd3FXVk51SnpzcGZrTHQ0WnA3R2U2dWl1Ri1RRDdVcm1HdjUzWExZLWx0b1BBdm0wa0xhZndNMkR6cFpRUmRLRDFpM2xCTzcwWDRNWlREcGRiUzBmMVFnNUpoY18zOWdBY2dMaG9Hd2hyRktFMEp0Q3MtRnUxVlZfRDFzbDVuNGs4UC0xZnBxUjF0aFBiTnBrNXlndTBiVklxQzA3WDVNU1hoc3lKTkJsLUJ3a2xpc3FBOHZuUW9MZGdSd0JfWklsaGsxdGhwX3VtMzRoNTQxNFYwS29qVURhc2x0MW5GMmRJbXFkM0Z0d3I3ZXAtT1JnV0phY2pnZThrVGdES05sVmVhdEQ2TllaU21tbm1SR0FDOWRoa21BNU5Zak50bW80VFJ6VnhOTzVVbnRDR2wxYVlTNm5oblZvUWdYdldER2RCNDBOS3dkWWJfeWxnZGhFY2piaFVmUkZMRVE3WEprRTFmaXI4RXhxRUxaMDZlV09fUWhRa3ZEWXRhZWlMbmZWNkdyMDNYRmE3ODZBcU5hTktoZ3MyYUY3RGdyMjd6YjFLOTJMWE80Z0lfeHdLWHdtbGlmRmJwaFIwUUJ3QXZpNmd1NnpWS3lnOEFFeUdBQmtkTENlcHVnT3B1WkJqRXVlZmFWMmxzaGg5QXI4U3pmS01qdXlfTnVpN1VaZHBlNGZySmd4ZHFJZHlacW5JSEZra25Oc2YwTmxIRVF5WXpNYVNrc0J6QkY5X04yQ1IxbkFHRHFSNG5vc2pUMw?oc=5" target="_blank"&gt;光邮星空连续完成Pre-A和Pre-A+轮融资|中关村|星座|导航|资本|资金_手机新浪网&lt;/a&gt;&amp;nbsp;&amp;nbsp;&lt;font color="#6f6f6f"&gt;新浪财经&lt;/font&gt;</a:t>
            </a:r>
          </a:p>
          <a:p>
            <a:br/>
            <a:pPr>
              <a:defRPr sz="1200"/>
            </a:pPr>
            <a:r>
              <a:t>원문 링크: https://news.google.com/rss/articles/CBMi-ApBVV95cUxNZUQ4YV9oSHBPWFQ0NGJwSDA2blUzMC1YOU5CZGlReXRJUmVwS2thRGxpQnZYb1ZNcjMxajZReC1LSXZDaV9mQUFyVGw4MFJzZ2YwVHVmUi15eVlLS0czX0tJMFhualVHNU95QzhTa2pQdWdCT0tBaGFWTkc3QlJaemlnZXFZX3pHTlNpWXNtclVpZ1ZmUnhueUI1a293NDloWS1mbUpCVW9SWnprZW5OWUdGXzd0d1V5WEwwekhFaUpJMzNfbTdtbzgteGlXWk4wZlBwSXF2YVFJRUZRWExISzRCNUZZWko1NHJ4N0w5WU9kRXVEQVBacnNUX2JkNWdIQUdqbVV0R3NDalZnWF9mVlBIYS1mMXZkbGhzX1BMdzdFckVnSnNLNXdCQXVLZk5VZzRVZVFtTHdtRGhBT08xX055UWU1Yi1hcUllRzFPVzdzOUNTOWJ0RGdkb0dSdUxRMlhlblJzaTdZUWVhV3AzbGExRjN2dENPWTVYTUQzMW1yNk5CZFlhTF9KbHZYTlB1VWNydnZlVXAwcVJVMkotcldiMVFWSTZEOWhZUU85TmREQmNwUTcwWTRaMVNBemxoclFvbmY2T0VXM2RoOWo5OHplOG9hV2ctNGp5b1pWeEduT2hoMkRvTWxwT3hYQWV1aUlmX0ZiLWtlOG1YdjhEbVJmT050WFJwTUVURW81Y3ZTZHEyelNEdWxHc0dSc0pPejlXUE5YUnRLcl9NaDVIVExEazdpcE5XSnpUelJnSEpROFVUTVpNYTNFMWdaOXZOZWZNamlTWHJIVjVyZGFEcEwzeC13b0t2aVhROTlsdUJHaWlBMVRwenBjQU91OGpURW1aZl9HYnREMUI1OEgwbjBoV2theUgwa0ZxSjVIVmM5eXFhbTIzWVI4amUwT1ZpVl90RWtIN3hHaVV0RERNRWhPS2E0ZkNzTUxIdVhpZ0RUMFpOSEZHUzhrZWdGT09oTTF0THNfbm8tRDhFZHNIc3BvNWVrQlotUk52S3NJYzZqVWRqRHhHSmRReUxIS3I0LVhzd3pnU09EaVNndHJRM0FPQTc4TV91N2R6Uk9SX1BHTHlYaXFsV2Y3WGdDd3FXVk51SnpzcGZrTHQ0WnA3R2U2dWl1Ri1RRDdVcm1HdjUzWExZLWx0b1BBdm0wa0xhZndNMkR6cFpRUmRLRDFpM2xCTzcwWDRNWlREcGRiUzBmMVFnNUpoY18zOWdBY2dMaG9Hd2hyRktFMEp0Q3MtRnUxVlZfRDFzbDVuNGs4UC0xZnBxUjF0aFBiTnBrNXlndTBiVklxQzA3WDVNU1hoc3lKTkJsLUJ3a2xpc3FBOHZuUW9MZGdSd0JfWklsaGsxdGhwX3VtMzRoNTQxNFYwS29qVURhc2x0MW5GMmRJbXFkM0Z0d3I3ZXAtT1JnV0phY2pnZThrVGdES05sVmVhdEQ2TllaU21tbm1SR0FDOWRoa21BNU5Zak50bW80VFJ6VnhOTzVVbnRDR2wxYVlTNm5oblZvUWdYdldER2RCNDBOS3dkWWJfeWxnZGhFY2piaFVmUkZMRVE3WEprRTFmaXI4RXhxRUxaMDZlV09fUWhRa3ZEWXRhZWlMbmZWNkdyMDNYRmE3ODZBcU5hTktoZ3MyYUY3RGdyMjd6YjFLOTJMWE80Z0lfeHdLWHdtbGlmRmJwaFIwUUJ3QXZpNmd1NnpWS3lnOEFFeUdBQmtkTENlcHVnT3B1WkJqRXVlZmFWMmxzaGg5QXI4U3pmS01qdXlfTnVpN1VaZHBlNGZySmd4ZHFJZHlacW5JSEZra25Oc2YwTmxIRVF5WXpNYVNrc0J6QkY5X04yQ1IxbkFHRHFSNG5vc2pUMw?oc=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Clueless : la série arrive, avec Alicia Silverstone de retour dans son rôle culte - Ecran Large</a:t>
            </a:r>
          </a:p>
        </p:txBody>
      </p:sp>
      <p:sp>
        <p:nvSpPr>
          <p:cNvPr id="3" name="Content Placeholder 2"/>
          <p:cNvSpPr>
            <a:spLocks noGrp="1"/>
          </p:cNvSpPr>
          <p:nvPr>
            <p:ph idx="1"/>
          </p:nvPr>
        </p:nvSpPr>
        <p:spPr/>
        <p:txBody>
          <a:bodyPr/>
          <a:lstStyle/>
          <a:p/>
          <a:p>
            <a:pPr>
              <a:defRPr sz="1400"/>
            </a:pPr>
            <a:r>
              <a:t>발행일: 2026-08-01 17:00:00.000000</a:t>
            </a:r>
          </a:p>
          <a:p>
            <a:pPr>
              <a:defRPr sz="1400"/>
            </a:pPr>
            <a:r>
              <a:t>영향력 점수: 70.0</a:t>
            </a:r>
          </a:p>
          <a:p>
            <a:pPr>
              <a:defRPr sz="1400"/>
            </a:pPr>
            <a:r>
              <a:t>유망 산업군: IA</a:t>
            </a:r>
          </a:p>
          <a:p>
            <a:br/>
            <a:pPr>
              <a:defRPr b="1" sz="1600"/>
            </a:pPr>
            <a:r>
              <a:t>[요약]</a:t>
            </a:r>
          </a:p>
          <a:p>
            <a:pPr>
              <a:defRPr sz="1600"/>
            </a:pPr>
            <a:r>
              <a:t>&lt;a href="https://news.google.com/rss/articles/CBMiiwFBVV95cUxPT1pYZ29jbGJQSnV6U0JmajBwVGZocE15RUMzSnpnMG1zODdrTURJQzc1LUdOU2pTcEFBN252OVprS2VSVmNORGRrbzFPd3FnYU1EMzJEanNEaGFyd0dTRm0ySUtNLS1kOThRRzc3NjBCY3QyVjhfZThOR0EyVHhMSWtxd2NUcnlnVnNr?oc=5" target="_blank"&gt;Clueless : la série arrive, avec Alicia Silverstone de retour dans son rôle culte&lt;/a&gt;&amp;nbsp;&amp;nbsp;&lt;font color="#6f6f6f"&gt;Ecran Large&lt;/font&gt;</a:t>
            </a:r>
          </a:p>
          <a:p>
            <a:br/>
            <a:pPr>
              <a:defRPr sz="1200"/>
            </a:pPr>
            <a:r>
              <a:t>원문 링크: https://news.google.com/rss/articles/CBMiiwFBVV95cUxPT1pYZ29jbGJQSnV6U0JmajBwVGZocE15RUMzSnpnMG1zODdrTURJQzc1LUdOU2pTcEFBN252OVprS2VSVmNORGRrbzFPd3FnYU1EMzJEanNEaGFyd0dTRm0ySUtNLS1kOThRRzc3NjBCY3QyVjhfZThOR0EyVHhMSWtxd2NUcnlnVnNr?oc=5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Buildforce: $10 Million Series A Raised To Staff Electricians Nationally - Pulse 2.0</a:t>
            </a:r>
          </a:p>
        </p:txBody>
      </p:sp>
      <p:sp>
        <p:nvSpPr>
          <p:cNvPr id="3" name="Content Placeholder 2"/>
          <p:cNvSpPr>
            <a:spLocks noGrp="1"/>
          </p:cNvSpPr>
          <p:nvPr>
            <p:ph idx="1"/>
          </p:nvPr>
        </p:nvSpPr>
        <p:spPr/>
        <p:txBody>
          <a:bodyPr/>
          <a:lstStyle/>
          <a:p/>
          <a:p>
            <a:pPr>
              <a:defRPr sz="1400"/>
            </a:pPr>
            <a:r>
              <a:t>발행일: 2026-08-01 12:32:06.000000</a:t>
            </a:r>
          </a:p>
          <a:p>
            <a:pPr>
              <a:defRPr sz="1400"/>
            </a:pPr>
            <a:r>
              <a:t>영향력 점수: 70.0</a:t>
            </a:r>
          </a:p>
          <a:p>
            <a:pPr>
              <a:defRPr sz="1400"/>
            </a:pPr>
            <a:r>
              <a:t>유망 산업군: EV, AI, IA</a:t>
            </a:r>
          </a:p>
          <a:p>
            <a:br/>
            <a:pPr>
              <a:defRPr b="1" sz="1600"/>
            </a:pPr>
            <a:r>
              <a:t>[요약]</a:t>
            </a:r>
          </a:p>
          <a:p>
            <a:pPr>
              <a:defRPr sz="1600"/>
            </a:pPr>
            <a:r>
              <a:t>&lt;a href="https://news.google.com/rss/articles/CBMilAFBVV95cUxOSXVnLXVIY1o2YUFpcDZFT3M2VllvMUtIam5uamw5cmcxbjZjTlRHdlpTUDg5a1UtSW9IdkltLXVZTmM1YzlDY3cyb3FVSi1SVWV5eGRub05YRjI5T1VCcG9FS2NHMXd0RlRiSjlGandGUnREQmtsOHFhSFlWeEpYc1JIWmxOQ0J1YmM5Vlg0TU9xLTFN0gGaAUFVX3lxTE5fSDlWUkhwYnFWOXZodDZQSkVHN2NmMVJFczhYWlNVYlp3dWVrZ296WFNXcVdtUHpKbGpZbEtzd3lieVZaeVdWSTFfaUVHZW1TWlYzRjNaVUpTbVBNMlRDdXJtQk1pbUtnSFo1WXFwN29wQkZxRHpVMUt1MXVTeFZ4ejdaNGd5UThFV1JhR1kzUHhGLXpQVllRYUE?oc=5" target="_blank"&gt;Buildforce: $10 Million Series A Raised To Staff Electricians Nationally&lt;/a&gt;&amp;nbsp;&amp;nbsp;&lt;font color="#6f6f6f"&gt;Pulse 2.0&lt;/font&gt;</a:t>
            </a:r>
          </a:p>
          <a:p>
            <a:br/>
            <a:pPr>
              <a:defRPr sz="1200"/>
            </a:pPr>
            <a:r>
              <a:t>원문 링크: https://news.google.com/rss/articles/CBMilAFBVV95cUxOSXVnLXVIY1o2YUFpcDZFT3M2VllvMUtIam5uamw5cmcxbjZjTlRHdlpTUDg5a1UtSW9IdkltLXVZTmM1YzlDY3cyb3FVSi1SVWV5eGRub05YRjI5T1VCcG9FS2NHMXd0RlRiSjlGandGUnREQmtsOHFhSFlWeEpYc1JIWmxOQ0J1YmM5Vlg0TU9xLTFN0gGaAUFVX3lxTE5fSDlWUkhwYnFWOXZodDZQSkVHN2NmMVJFczhYWlNVYlp3dWVrZ296WFNXcVdtUHpKbGpZbEtzd3lieVZaeVdWSTFfaUVHZW1TWlYzRjNaVUpTbVBNMlRDdXJtQk1pbUtnSFo1WXFwN29wQkZxRHpVMUt1MXVTeFZ4ejdaNGd5UThFV1JhR1kzUHhGLXpQVllRYUE?oc=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Discern: $10 Million Series A Raised To Automate State Filings - Pulse 2.0</a:t>
            </a:r>
          </a:p>
        </p:txBody>
      </p:sp>
      <p:sp>
        <p:nvSpPr>
          <p:cNvPr id="3" name="Content Placeholder 2"/>
          <p:cNvSpPr>
            <a:spLocks noGrp="1"/>
          </p:cNvSpPr>
          <p:nvPr>
            <p:ph idx="1"/>
          </p:nvPr>
        </p:nvSpPr>
        <p:spPr/>
        <p:txBody>
          <a:bodyPr/>
          <a:lstStyle/>
          <a:p/>
          <a:p>
            <a:pPr>
              <a:defRPr sz="1400"/>
            </a:pPr>
            <a:r>
              <a:t>발행일: 2026-08-01 12:30:50.000000</a:t>
            </a:r>
          </a:p>
          <a:p>
            <a:pPr>
              <a:defRPr sz="1400"/>
            </a:pPr>
            <a:r>
              <a:t>영향력 점수: 70.0</a:t>
            </a:r>
          </a:p>
          <a:p>
            <a:pPr>
              <a:defRPr sz="1400"/>
            </a:pPr>
            <a:r>
              <a:t>유망 산업군: AI</a:t>
            </a:r>
          </a:p>
          <a:p>
            <a:br/>
            <a:pPr>
              <a:defRPr b="1" sz="1600"/>
            </a:pPr>
            <a:r>
              <a:t>[요약]</a:t>
            </a:r>
          </a:p>
          <a:p>
            <a:pPr>
              <a:defRPr sz="1600"/>
            </a:pPr>
            <a:r>
              <a:t>&lt;a href="https://news.google.com/rss/articles/CBMihwFBVV95cUxOYlRnVVZsMHRVbnFQWXNVenNfOFllZklvcnRMLWxuTHBqYmdPQ1h3X09TOUFGZ2lvLUx1Y3N3a3hyV3lDZ2xOQnlpWHczcHdNQk1JbnZfS3lIYXctY2JKMlRFVE9fOXRzMkFMUFhhY2FMUHFxMTlEYk1qcVlxcXMwTjVGTjJfZUnSAYwBQVVfeXFMTmxWY2x0SDY3dzhSOVk1bFJsc016OW9oVGtCekRhTTB4X2xRQk9TdHl3N1hsLV9POC1ZQlFidzZ6R2VxdkNOQ2p4STdlUlJ4OFdjaUFRTkZwUExmZm1QWk1yTWw4aEtMaVJOWnFYVHpWMHlEejNqdGJNbU9oWm9IMEs0RlhIU3Jzc2VKb2c?oc=5" target="_blank"&gt;Discern: $10 Million Series A Raised To Automate State Filings&lt;/a&gt;&amp;nbsp;&amp;nbsp;&lt;font color="#6f6f6f"&gt;Pulse 2.0&lt;/font&gt;</a:t>
            </a:r>
          </a:p>
          <a:p>
            <a:br/>
            <a:pPr>
              <a:defRPr sz="1200"/>
            </a:pPr>
            <a:r>
              <a:t>원문 링크: https://news.google.com/rss/articles/CBMihwFBVV95cUxOYlRnVVZsMHRVbnFQWXNVenNfOFllZklvcnRMLWxuTHBqYmdPQ1h3X09TOUFGZ2lvLUx1Y3N3a3hyV3lDZ2xOQnlpWHczcHdNQk1JbnZfS3lIYXctY2JKMlRFVE9fOXRzMkFMUFhhY2FMUHFxMTlEYk1qcVlxcXMwTjVGTjJfZUnSAYwBQVVfeXFMTmxWY2x0SDY3dzhSOVk1bFJsc016OW9oVGtCekRhTTB4X2xRQk9TdHl3N1hsLV9POC1ZQlFidzZ6R2VxdkNOQ2p4STdlUlJ4OFdjaUFRTkZwUExmZm1QWk1yTWw4aEtMaVJOWnFYVHpWMHlEejNqdGJNbU9oWm9IMEs0RlhIU3Jzc2VKb2c?oc=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Icarus Medical完成720万美元A轮融资，加速骨科支具创新研发 - MedTech World</a:t>
            </a:r>
          </a:p>
        </p:txBody>
      </p:sp>
      <p:sp>
        <p:nvSpPr>
          <p:cNvPr id="3" name="Content Placeholder 2"/>
          <p:cNvSpPr>
            <a:spLocks noGrp="1"/>
          </p:cNvSpPr>
          <p:nvPr>
            <p:ph idx="1"/>
          </p:nvPr>
        </p:nvSpPr>
        <p:spPr/>
        <p:txBody>
          <a:bodyPr/>
          <a:lstStyle/>
          <a:p/>
          <a:p>
            <a:pPr>
              <a:defRPr sz="1400"/>
            </a:pPr>
            <a:r>
              <a:t>발행일: 2026-08-01 10:49:26.000000</a:t>
            </a:r>
          </a:p>
          <a:p>
            <a:pPr>
              <a:defRPr sz="1400"/>
            </a:pPr>
            <a:r>
              <a:t>영향력 점수: 70.0</a:t>
            </a:r>
          </a:p>
          <a:p>
            <a:pPr>
              <a:defRPr sz="1400"/>
            </a:pPr>
            <a:r>
              <a:t>유망 산업군: EV</a:t>
            </a:r>
          </a:p>
          <a:p>
            <a:br/>
            <a:pPr>
              <a:defRPr b="1" sz="1600"/>
            </a:pPr>
            <a:r>
              <a:t>[요약]</a:t>
            </a:r>
          </a:p>
          <a:p>
            <a:pPr>
              <a:defRPr sz="1600"/>
            </a:pPr>
            <a:r>
              <a:t>&lt;a href="https://news.google.com/rss/articles/CBMidkFVX3lxTE9CbFhmeFlESmpvVGlzMjZCRHY5WF9Hd0l6LVFzUzF1c3dTZUx3WHdCOF8tX0ZwajRyUXlhOFVLb3pSWU9zTTVHeDlYUDZ6QjNwSHN4MURYeVBlUmdBZk1zTW5kck5DV0d3LXVBSTJOeW56Qk95YXc?oc=5" target="_blank"&gt;Icarus Medical完成720万美元A轮融资，加速骨科支具创新研发&lt;/a&gt;&amp;nbsp;&amp;nbsp;&lt;font color="#6f6f6f"&gt;MedTech World&lt;/font&gt;</a:t>
            </a:r>
          </a:p>
          <a:p>
            <a:br/>
            <a:pPr>
              <a:defRPr sz="1200"/>
            </a:pPr>
            <a:r>
              <a:t>원문 링크: https://news.google.com/rss/articles/CBMidkFVX3lxTE9CbFhmeFlESmpvVGlzMjZCRHY5WF9Hd0l6LVFzUzF1c3dTZUx3WHdCOF8tX0ZwajRyUXlhOFVLb3pSWU9zTTVHeDlYUDZ6QjNwSHN4MURYeVBlUmdBZk1zTW5kck5DV0d3LXVBSTJOeW56Qk95YXc?oc=5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 Je vis pour ce comeback ! » Netflix dévoile le trailer de sa future série avec ce grand acteur, et ça fait déjà des heureux - Gameblog</a:t>
            </a:r>
          </a:p>
        </p:txBody>
      </p:sp>
      <p:sp>
        <p:nvSpPr>
          <p:cNvPr id="3" name="Content Placeholder 2"/>
          <p:cNvSpPr>
            <a:spLocks noGrp="1"/>
          </p:cNvSpPr>
          <p:nvPr>
            <p:ph idx="1"/>
          </p:nvPr>
        </p:nvSpPr>
        <p:spPr/>
        <p:txBody>
          <a:bodyPr/>
          <a:lstStyle/>
          <a:p/>
          <a:p>
            <a:pPr>
              <a:defRPr sz="1400"/>
            </a:pPr>
            <a:r>
              <a:t>발행일: 2026-08-01 08:32:51.000000</a:t>
            </a:r>
          </a:p>
          <a:p>
            <a:pPr>
              <a:defRPr sz="1400"/>
            </a:pPr>
            <a:r>
              <a:t>영향력 점수: 70.0</a:t>
            </a:r>
          </a:p>
          <a:p>
            <a:pPr>
              <a:defRPr sz="1400"/>
            </a:pPr>
            <a:r>
              <a:t>유망 산업군: AI</a:t>
            </a:r>
          </a:p>
          <a:p>
            <a:br/>
            <a:pPr>
              <a:defRPr b="1" sz="1600"/>
            </a:pPr>
            <a:r>
              <a:t>[요약]</a:t>
            </a:r>
          </a:p>
          <a:p>
            <a:pPr>
              <a:defRPr sz="1600"/>
            </a:pPr>
            <a:r>
              <a:t>&lt;a href="https://news.google.com/rss/articles/CBMilAFBVV95cUxORFNpN051OGVBcHM4STJTR29MSVJLZEJTT3lzVHlTdHFOaVpIdFFBQTF4NGdGWVR4VUNZbnNEYnFGWEdMS2NWT3lOaUpqdXV1WWF5TzNhamExYVBrYVJ4X0NNaktDNHVoeXFOemF1d0hEUUVXaEk4V2NITFJiOVJfRWhWVG02cjV1Z3BNSV9JSWNKLUFR?oc=5" target="_blank"&gt;« Je vis pour ce comeback ! » Netflix dévoile le trailer de sa future série avec ce grand acteur, et ça fait déjà des heureux&lt;/a&gt;&amp;nbsp;&amp;nbsp;&lt;font color="#6f6f6f"&gt;Gameblog&lt;/font&gt;</a:t>
            </a:r>
          </a:p>
          <a:p>
            <a:br/>
            <a:pPr>
              <a:defRPr sz="1200"/>
            </a:pPr>
            <a:r>
              <a:t>원문 링크: https://news.google.com/rss/articles/CBMilAFBVV95cUxORFNpN051OGVBcHM4STJTR29MSVJLZEJTT3lzVHlTdHFOaVpIdFFBQTF4NGdGWVR4VUNZbnNEYnFGWEdMS2NWT3lOaUpqdXV1WWF5TzNhamExYVBrYVJ4X0NNaktDNHVoeXFOemF1d0hEUUVXaEk4V2NITFJiOVJfRWhWVG02cjV1Z3BNSV9JSWNKLUFR?oc=5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